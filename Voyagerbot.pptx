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65" r:id="rId3"/>
    <p:sldId id="267" r:id="rId4"/>
    <p:sldId id="266" r:id="rId5"/>
    <p:sldId id="268" r:id="rId6"/>
    <p:sldId id="270" r:id="rId7"/>
    <p:sldId id="271" r:id="rId8"/>
    <p:sldId id="275" r:id="rId9"/>
    <p:sldId id="269" r:id="rId10"/>
    <p:sldId id="273" r:id="rId11"/>
    <p:sldId id="289" r:id="rId12"/>
    <p:sldId id="291" r:id="rId13"/>
    <p:sldId id="288" r:id="rId14"/>
    <p:sldId id="290" r:id="rId15"/>
    <p:sldId id="277" r:id="rId16"/>
    <p:sldId id="276" r:id="rId17"/>
    <p:sldId id="282" r:id="rId18"/>
    <p:sldId id="279" r:id="rId19"/>
    <p:sldId id="296" r:id="rId20"/>
    <p:sldId id="294" r:id="rId21"/>
    <p:sldId id="295" r:id="rId22"/>
    <p:sldId id="286" r:id="rId23"/>
    <p:sldId id="287" r:id="rId24"/>
    <p:sldId id="292" r:id="rId25"/>
    <p:sldId id="281" r:id="rId26"/>
    <p:sldId id="284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iisFCESRln3sBrcQRNdFMRHH+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8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B8DF81E-3AA2-39F6-2DBA-902CBE899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A8A9902-7ADE-B7CF-E4BF-C1013DC9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78DE849-417D-54C6-1245-CA9A21E59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38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62C157A-35D2-3FE1-F25D-16F30F28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61B27FE-CE7F-7449-0C14-C41AF33BB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E41E0498-3113-1DD2-3177-AF828E1961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99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1E170BE-F485-3B8C-5B48-2172803D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869CF0E-B653-FF7E-C716-DF0539062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AE8BD19-81BA-A9F4-D83C-A3BCE7A73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24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916A5E7-8A5A-83A5-870B-E0867570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F8BDD54-E70E-EB86-83A7-4008589B9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02D8C44-9F32-94AE-BE06-2AB7847463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59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3490F44-EAEA-3C89-F6FB-1FDE54CA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B59D0FB-2255-D6A6-0FEC-D4B331BBA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83D639C-016C-C3C2-C9FD-73D6578D0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87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927A138-1789-520D-D57E-E81C8B51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0D0768C-9C60-DAD5-22CC-4810BACCA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3C9AF0F8-DDF0-9CED-3038-B2B55EA1A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74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592B0F1-5F6A-CE4E-C1EE-08BD5D03C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F0C14FB-7C05-6C35-1028-1040AD23A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B9D4E8D-A40A-763C-0FE7-99ACE87A3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31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8F1F58C-FDC1-C915-F068-FDEC920E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CEEF3C0-876F-1D04-AEFC-A3CE88D44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D39EE31-F147-7CF5-C702-EE20BE8FF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31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CFFF7E9-9A92-EF0E-E1FA-686A9442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FA20D42-C5CD-3F64-9469-E52354915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49856A3-5E52-E6EA-99B4-0F6A87704E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97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72E5192-79BF-1346-9DF9-0AA80DB0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F69DC466-CF9F-267A-07AD-9B8A2C5C5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42F1449-9AF8-CF01-6B5B-53F03CE75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90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2E2EA59-8466-677D-1EB2-A287F758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AD82F0AD-7948-2D33-9C2F-E75F5CA113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E38BBE81-0DE6-7E26-FADF-4600D6717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49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902E5B3-C424-D16B-4C2B-2D32C87F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07E2D6E-D3E6-2288-72BC-2B443E8B2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6E21EA6-067E-2709-0DF8-EC4740CE4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42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60A9D62-28E7-C8A9-A7B3-27B51629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6513880-A495-E98D-6732-69F67AD43A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F7BB944-1064-A864-62F0-A8992EF77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04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A8F2A33-0925-B04A-302A-1D102F47D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774E44A-F35F-8271-5ABD-A7BC21A42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EBDAF85-6CA2-F1E2-0DCF-502C108D6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33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BE321A1-1DC2-1C7C-4E55-2619D65F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C6AAFB1D-DE0B-8E76-0D37-4B4C3EE55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68155DD-7169-3705-15DC-F70B45432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9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17FDA7F-DC51-328A-9E14-A3CFF98F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D381CDC-C162-E8BF-7067-996917744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98165C6F-7222-02E5-B969-30458E7E6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942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8CAC304-1901-9541-E22A-6A64C04F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10BC1CE-0D43-B055-D49F-6F08931DE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ACD0DD1B-C4FA-51D3-55F3-3F2796B5B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0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1228768-4ED9-4697-8B3E-9FF7FA44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A1AFE875-90C3-208E-6183-854648499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0AF7184-B150-365F-614C-5B766DA90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1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5ADDF03-3573-306A-6599-A2654B5C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0F2CA67-C47E-65BF-11C4-F184E73A3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743EEF0-37E5-9833-B29D-5DC0E0E20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482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749B203-AEAE-2740-9045-254A246D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F649DDF-BE47-DF22-9822-2CC5F6F1EF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76EA029-85E4-8A92-520B-0EADE729E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025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207EF5A-99C1-E203-3105-9D289C57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DFE1E9E-7131-1BB4-2835-C2732D8B5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D1C9A8EE-6E64-EB52-EBE4-152BE5165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818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0154951-E107-8996-19A5-9AD575BB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7725383-466B-BA2C-45F5-E8C83C1F5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343026E-1C8A-A3DC-46E5-A06F24F7B2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251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B02BCF8-40FA-79A3-C03F-E510535D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4C3179F-F14E-6B95-826E-0B821C902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549CA19-A667-B141-5578-548471A3B3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739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590DF44-0DEE-C822-F0BD-9A0E6339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F5C4B5CC-3444-2751-2FDC-792EF7722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DA20C19-FB6E-8FC9-D175-27274CECD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380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34D20C5-226D-B370-03CE-B48C8660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67B0CA2-9A67-A2B0-8792-5ABC7C15B5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F56E199-60AA-0FA1-A855-4FE6107D9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89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jp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1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2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/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0" y="6544574"/>
            <a:ext cx="12192000" cy="40197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76556" y="1235030"/>
            <a:ext cx="10461625" cy="727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86006" y="521494"/>
            <a:ext cx="98655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IN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VOYAGERBOT: SMART LUGGAGE BAG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277502" y="1506339"/>
            <a:ext cx="54471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22BEM10025- NAHAL</a:t>
            </a:r>
            <a:endParaRPr lang="en-IN"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22BEM10020 – ARYAN WAGH</a:t>
            </a:r>
          </a:p>
          <a:p>
            <a:pPr algn="ctr">
              <a:buSzPts val="1800"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22BEM10042 – AAYUSH SINGHAL</a:t>
            </a:r>
            <a:endParaRPr lang="en-IN"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22BEM10033 – HUSSEIN ALIMSON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22BEM10054 – ABDULRAHMAN SADDAM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43292" y="4651449"/>
            <a:ext cx="35178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supervision of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Inderpreet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240305" y="6019473"/>
            <a:ext cx="37113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CHANDIGARH UNIVERSITY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descr="logo (1).jpg"/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5685139" y="4901421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8487592" y="4651449"/>
            <a:ext cx="35178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supervision of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Gurmeet Singh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H.O.D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468796B4-0949-D38D-8863-D6FFC8F4D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880B5F30-58B1-E9B6-2C77-BB12E820E3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BC0679-AEB6-06C1-49A1-0EF57DECE741}"/>
              </a:ext>
            </a:extLst>
          </p:cNvPr>
          <p:cNvSpPr txBox="1"/>
          <p:nvPr/>
        </p:nvSpPr>
        <p:spPr>
          <a:xfrm>
            <a:off x="4988164" y="262178"/>
            <a:ext cx="2215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7D9449-7B0F-8015-031B-396FD56DBEC2}"/>
              </a:ext>
            </a:extLst>
          </p:cNvPr>
          <p:cNvSpPr txBox="1"/>
          <p:nvPr/>
        </p:nvSpPr>
        <p:spPr>
          <a:xfrm>
            <a:off x="1160617" y="846953"/>
            <a:ext cx="9031872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Design Process and Methodology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Division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Revised Design Approach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Voyager-Bot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in the bag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of Operation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DF138C59-B971-F094-9E2B-3B711148391C}"/>
              </a:ext>
            </a:extLst>
          </p:cNvPr>
          <p:cNvSpPr/>
          <p:nvPr/>
        </p:nvSpPr>
        <p:spPr>
          <a:xfrm>
            <a:off x="0" y="6540349"/>
            <a:ext cx="12192000" cy="31765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3752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A59C367-FEEE-98D8-D51D-69A1F49E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C0ADC8-E148-7387-DF24-496FEE30B32F}"/>
              </a:ext>
            </a:extLst>
          </p:cNvPr>
          <p:cNvSpPr/>
          <p:nvPr/>
        </p:nvSpPr>
        <p:spPr>
          <a:xfrm>
            <a:off x="0" y="6960"/>
            <a:ext cx="12191999" cy="81254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7C3BB9-048A-86E4-B334-DECF757A075E}"/>
              </a:ext>
            </a:extLst>
          </p:cNvPr>
          <p:cNvSpPr/>
          <p:nvPr/>
        </p:nvSpPr>
        <p:spPr>
          <a:xfrm>
            <a:off x="6567054" y="3581844"/>
            <a:ext cx="5063825" cy="2770986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6FDA39-B6CA-521C-F665-865C18842350}"/>
              </a:ext>
            </a:extLst>
          </p:cNvPr>
          <p:cNvSpPr/>
          <p:nvPr/>
        </p:nvSpPr>
        <p:spPr>
          <a:xfrm>
            <a:off x="6567055" y="1723196"/>
            <a:ext cx="5001479" cy="1342023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drawing of a wooden box&#10;&#10;AI-generated content may be incorrect.">
            <a:extLst>
              <a:ext uri="{FF2B5EF4-FFF2-40B4-BE49-F238E27FC236}">
                <a16:creationId xmlns:a16="http://schemas.microsoft.com/office/drawing/2014/main" id="{A1BE5A65-D5D3-9640-77CD-2C298558E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52" y="938291"/>
            <a:ext cx="4168460" cy="53423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11837924-55BD-8F1F-5A33-2E9F2A2553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322" t="3888" r="80154"/>
          <a:stretch/>
        </p:blipFill>
        <p:spPr>
          <a:xfrm>
            <a:off x="0" y="0"/>
            <a:ext cx="664234" cy="8195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15683B-3EE3-BE0B-CE7D-44FEDA998790}"/>
              </a:ext>
            </a:extLst>
          </p:cNvPr>
          <p:cNvSpPr txBox="1"/>
          <p:nvPr/>
        </p:nvSpPr>
        <p:spPr>
          <a:xfrm>
            <a:off x="3361710" y="165098"/>
            <a:ext cx="5054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0220B-3DBE-8906-FD96-CE1D7A54BCB4}"/>
              </a:ext>
            </a:extLst>
          </p:cNvPr>
          <p:cNvSpPr txBox="1"/>
          <p:nvPr/>
        </p:nvSpPr>
        <p:spPr>
          <a:xfrm>
            <a:off x="6429063" y="1123056"/>
            <a:ext cx="5277462" cy="36933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VOYAGER BOT</a:t>
            </a:r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EFB83-576B-7CC1-CCF5-FDB5E18D1C6C}"/>
              </a:ext>
            </a:extLst>
          </p:cNvPr>
          <p:cNvSpPr txBox="1"/>
          <p:nvPr/>
        </p:nvSpPr>
        <p:spPr>
          <a:xfrm>
            <a:off x="7669970" y="3890617"/>
            <a:ext cx="367569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bag features an autonomous follow-me mechanism to track and move with its owner, an anti-theft system with real-time alerts, and an AI-powered chat companion for personalized assistance. Additionally, it integrates live location tracking, SMS notifications for status updates, and a web application that allows users to monitor, configure, and calibrate its functions seamlessly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BAB5A-B2F7-6ABF-8DAF-CA5D53CA2F73}"/>
              </a:ext>
            </a:extLst>
          </p:cNvPr>
          <p:cNvSpPr txBox="1"/>
          <p:nvPr/>
        </p:nvSpPr>
        <p:spPr>
          <a:xfrm>
            <a:off x="7669970" y="1915859"/>
            <a:ext cx="3456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project focuses on developing a smart travel bag that enhances security, convenience, and user interaction through advanced technologies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F4A511-46B5-E8EC-7145-E3B249F38032}"/>
              </a:ext>
            </a:extLst>
          </p:cNvPr>
          <p:cNvSpPr/>
          <p:nvPr/>
        </p:nvSpPr>
        <p:spPr>
          <a:xfrm>
            <a:off x="6818524" y="4529001"/>
            <a:ext cx="497253" cy="510542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FC4A0C-74E5-D67D-4CF3-AF1A191ED053}"/>
              </a:ext>
            </a:extLst>
          </p:cNvPr>
          <p:cNvSpPr/>
          <p:nvPr/>
        </p:nvSpPr>
        <p:spPr>
          <a:xfrm>
            <a:off x="6687128" y="2059713"/>
            <a:ext cx="487440" cy="480288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 descr="Shopping bag">
            <a:extLst>
              <a:ext uri="{FF2B5EF4-FFF2-40B4-BE49-F238E27FC236}">
                <a16:creationId xmlns:a16="http://schemas.microsoft.com/office/drawing/2014/main" id="{58743021-9F12-CF13-0283-1F6C152EDE4C}"/>
              </a:ext>
            </a:extLst>
          </p:cNvPr>
          <p:cNvSpPr/>
          <p:nvPr/>
        </p:nvSpPr>
        <p:spPr>
          <a:xfrm>
            <a:off x="6788977" y="2151998"/>
            <a:ext cx="302076" cy="256844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 descr="Robber">
            <a:extLst>
              <a:ext uri="{FF2B5EF4-FFF2-40B4-BE49-F238E27FC236}">
                <a16:creationId xmlns:a16="http://schemas.microsoft.com/office/drawing/2014/main" id="{734B3078-C012-6CFC-B33E-D282CCBCD408}"/>
              </a:ext>
            </a:extLst>
          </p:cNvPr>
          <p:cNvSpPr/>
          <p:nvPr/>
        </p:nvSpPr>
        <p:spPr>
          <a:xfrm>
            <a:off x="6918036" y="4645891"/>
            <a:ext cx="284240" cy="27917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BC6D1C6B-0BBC-BFC9-776D-0302C63E285A}"/>
              </a:ext>
            </a:extLst>
          </p:cNvPr>
          <p:cNvSpPr/>
          <p:nvPr/>
        </p:nvSpPr>
        <p:spPr>
          <a:xfrm>
            <a:off x="0" y="6609969"/>
            <a:ext cx="12192000" cy="24107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7873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DA26AFA-0B9B-A58E-D454-C56E7E9D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6DD35FCC-EB1A-5AFB-ED1A-2DE52C8F46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BB6485-4036-B38E-8B69-E34D73CE08C5}"/>
              </a:ext>
            </a:extLst>
          </p:cNvPr>
          <p:cNvSpPr txBox="1"/>
          <p:nvPr/>
        </p:nvSpPr>
        <p:spPr>
          <a:xfrm>
            <a:off x="4568718" y="229106"/>
            <a:ext cx="27863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BEE47E-6672-FD0C-193B-DD0CE673E1FF}"/>
              </a:ext>
            </a:extLst>
          </p:cNvPr>
          <p:cNvSpPr txBox="1"/>
          <p:nvPr/>
        </p:nvSpPr>
        <p:spPr>
          <a:xfrm>
            <a:off x="1166292" y="1042988"/>
            <a:ext cx="8668512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Follow-Me Mechanism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bag will autonomously follow its owner, ensuring it only responds to the rightful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Anti-Theft System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Equipped with a siren or buzzer that activate to get the bags whereabout.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Location Tracking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location updates of the bag will be sent directly to the owner.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Alerts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 will receive instant updates about the bag’s status and condition via 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dedicated web app to monitor, configure, and calibrate all bag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Companion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AI assistant designed to accompany and interact with the owner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CCB64CFC-1312-E3C2-076D-2F21B1264D27}"/>
              </a:ext>
            </a:extLst>
          </p:cNvPr>
          <p:cNvSpPr/>
          <p:nvPr/>
        </p:nvSpPr>
        <p:spPr>
          <a:xfrm>
            <a:off x="0" y="6628895"/>
            <a:ext cx="12192000" cy="229106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494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140D362E-5C1C-53EC-EF02-75D4E0BD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machine&#10;&#10;AI-generated content may be incorrect.">
            <a:extLst>
              <a:ext uri="{FF2B5EF4-FFF2-40B4-BE49-F238E27FC236}">
                <a16:creationId xmlns:a16="http://schemas.microsoft.com/office/drawing/2014/main" id="{4BB95B4E-5504-2F18-E052-875980F27F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4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31B45F-89C7-A6FF-2653-A7531AD2C2BD}"/>
              </a:ext>
            </a:extLst>
          </p:cNvPr>
          <p:cNvSpPr txBox="1"/>
          <p:nvPr/>
        </p:nvSpPr>
        <p:spPr>
          <a:xfrm>
            <a:off x="2276475" y="2247900"/>
            <a:ext cx="75819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DESIGN PROCESS </a:t>
            </a:r>
          </a:p>
        </p:txBody>
      </p: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8603D6C8-78A2-0F8A-5255-2D6D3CAD22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529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56537669-21C6-8F83-8B66-ECD87E03C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40A87461-6EC9-9019-4E2D-3D4E29868F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F1431A-BBE3-65C8-B993-D3E2599791A7}"/>
              </a:ext>
            </a:extLst>
          </p:cNvPr>
          <p:cNvSpPr txBox="1"/>
          <p:nvPr/>
        </p:nvSpPr>
        <p:spPr>
          <a:xfrm>
            <a:off x="3211395" y="228821"/>
            <a:ext cx="55931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CONCEPT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6D21B6-8604-7029-8AED-BF05F221F484}"/>
              </a:ext>
            </a:extLst>
          </p:cNvPr>
          <p:cNvSpPr txBox="1"/>
          <p:nvPr/>
        </p:nvSpPr>
        <p:spPr>
          <a:xfrm>
            <a:off x="3026664" y="1609344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diagram of a machine">
            <a:extLst>
              <a:ext uri="{FF2B5EF4-FFF2-40B4-BE49-F238E27FC236}">
                <a16:creationId xmlns:a16="http://schemas.microsoft.com/office/drawing/2014/main" id="{39E20080-BA5A-B468-E747-B8DA5FF41F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282" b="15093"/>
          <a:stretch>
            <a:fillRect/>
          </a:stretch>
        </p:blipFill>
        <p:spPr>
          <a:xfrm>
            <a:off x="5788152" y="1042702"/>
            <a:ext cx="6190488" cy="4772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9C8FA6-C9AB-65B7-9867-B7F3C23039C3}"/>
              </a:ext>
            </a:extLst>
          </p:cNvPr>
          <p:cNvSpPr txBox="1"/>
          <p:nvPr/>
        </p:nvSpPr>
        <p:spPr>
          <a:xfrm>
            <a:off x="631825" y="1042988"/>
            <a:ext cx="486371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project follows a structured approach combining electronic system integration, mechanical design, and smart control logic to develop the autonomous travel bag.</a:t>
            </a:r>
          </a:p>
          <a:p>
            <a:r>
              <a:rPr lang="en-US" b="1" dirty="0"/>
              <a:t>System Architecture</a:t>
            </a:r>
            <a:br>
              <a:rPr lang="en-US" dirty="0"/>
            </a:br>
            <a:r>
              <a:rPr lang="en-US" dirty="0"/>
              <a:t>The design begins with a block diagram schematic outlining the main subsystems: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Power Supply Unit:</a:t>
            </a:r>
            <a:r>
              <a:rPr lang="en-US" dirty="0"/>
              <a:t> A 12V battery connected through a switch, step-down converters, and distribution rails to provide both 12V and 5V power for different modules.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Communication Block:</a:t>
            </a:r>
            <a:r>
              <a:rPr lang="en-US" dirty="0"/>
              <a:t> Includes the Raspberry Pi as the central controller interfacing with the buzzer, GSM module, GPS module, and UWB modules for tracking and connectivity.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Motor Control Block:</a:t>
            </a:r>
            <a:r>
              <a:rPr lang="en-US" dirty="0"/>
              <a:t> Consists of L298N and 12V DC geared motors, managed by the Raspberry Pi, to drive the bag’s autonomous movement.</a:t>
            </a:r>
          </a:p>
          <a:p>
            <a:pPr lvl="1"/>
            <a:br>
              <a:rPr lang="en-US" dirty="0"/>
            </a:br>
            <a:r>
              <a:rPr lang="en-US" b="1" dirty="0"/>
              <a:t>Bag Design</a:t>
            </a:r>
            <a:br>
              <a:rPr lang="en-US" dirty="0"/>
            </a:br>
            <a:r>
              <a:rPr lang="en-US" dirty="0"/>
              <a:t>The bag layout incorporates compartments for the Raspberry Pi, sensors, motorized wheels, and power supply. The mechanical frame is dimensioned (approx. 45 cm × 30 cm) with space for the wheel system and additional sensors such as a camera and LED indicators.</a:t>
            </a:r>
          </a:p>
          <a:p>
            <a:endParaRPr lang="en-US" dirty="0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95E65F3C-B679-EDF9-32CD-5541FB8892BE}"/>
              </a:ext>
            </a:extLst>
          </p:cNvPr>
          <p:cNvSpPr/>
          <p:nvPr/>
        </p:nvSpPr>
        <p:spPr>
          <a:xfrm>
            <a:off x="0" y="6719977"/>
            <a:ext cx="12192000" cy="226568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436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50C92FBA-2A2A-2730-C146-188A2907F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AE45D4C1-3AB3-8424-0315-AAE462A5B4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10EE76-C989-6F75-B941-83ABA4CCC1D9}"/>
              </a:ext>
            </a:extLst>
          </p:cNvPr>
          <p:cNvSpPr txBox="1"/>
          <p:nvPr/>
        </p:nvSpPr>
        <p:spPr>
          <a:xfrm>
            <a:off x="1972916" y="109187"/>
            <a:ext cx="8246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 AND METHODOLOGY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AD3157-33B3-C783-1B73-583E387B73EC}"/>
              </a:ext>
            </a:extLst>
          </p:cNvPr>
          <p:cNvSpPr txBox="1"/>
          <p:nvPr/>
        </p:nvSpPr>
        <p:spPr>
          <a:xfrm>
            <a:off x="3026664" y="1609344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diagram of a machine">
            <a:extLst>
              <a:ext uri="{FF2B5EF4-FFF2-40B4-BE49-F238E27FC236}">
                <a16:creationId xmlns:a16="http://schemas.microsoft.com/office/drawing/2014/main" id="{865A2643-1299-62B1-3332-90E8BCAC13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282" b="15093"/>
          <a:stretch>
            <a:fillRect/>
          </a:stretch>
        </p:blipFill>
        <p:spPr>
          <a:xfrm>
            <a:off x="5788152" y="1042702"/>
            <a:ext cx="6190488" cy="4772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5A8444-9FDD-712F-F8C9-ED29F956320E}"/>
              </a:ext>
            </a:extLst>
          </p:cNvPr>
          <p:cNvSpPr txBox="1"/>
          <p:nvPr/>
        </p:nvSpPr>
        <p:spPr>
          <a:xfrm>
            <a:off x="631825" y="1042988"/>
            <a:ext cx="509231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Keychain Module</a:t>
            </a:r>
            <a:br>
              <a:rPr lang="en-US" dirty="0"/>
            </a:br>
            <a:r>
              <a:rPr lang="en-US" dirty="0"/>
              <a:t>A portable keychain device integrates UWB modules and an ESP32 to act as the reference point for the follow-me mechanism, ensuring the bag tracks only its owner.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Component Selection</a:t>
            </a:r>
            <a:br>
              <a:rPr lang="en-US" dirty="0"/>
            </a:br>
            <a:r>
              <a:rPr lang="en-US" dirty="0"/>
              <a:t>Core components include Raspberry Pi, UWB modules, GSM/GPS modules, buzzer, LED indicators, converters, and a 12V battery system. The structure will be built using plywood, acrylic sheets, screws/nuts, and custom 3D-printed parts for durability and modularity.</a:t>
            </a:r>
          </a:p>
          <a:p>
            <a:endParaRPr lang="en-US" dirty="0"/>
          </a:p>
          <a:p>
            <a:r>
              <a:rPr lang="en-US" b="1" dirty="0"/>
              <a:t>Methodology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Develop the power distribution system to ensure stable operation of all modules.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Program the Raspberry Pi to integrate communication modules and motor control.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Build and test the keychain for accurate distance tracking.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Assemble the bag structure with controlled wheels and integrate sensors.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Calibrate and refine the follow-me, anti-theft, and live tracking features.</a:t>
            </a:r>
          </a:p>
          <a:p>
            <a:r>
              <a:rPr lang="en-US" dirty="0"/>
              <a:t> 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11DE0AC2-1C75-7A3F-FA10-46AB8F02518B}"/>
              </a:ext>
            </a:extLst>
          </p:cNvPr>
          <p:cNvSpPr/>
          <p:nvPr/>
        </p:nvSpPr>
        <p:spPr>
          <a:xfrm>
            <a:off x="0" y="6656880"/>
            <a:ext cx="12192000" cy="20112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546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A30D43E-3351-5BA6-944A-C951CF46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C73CE0-37E4-63F6-C7E4-60CB691BC484}"/>
              </a:ext>
            </a:extLst>
          </p:cNvPr>
          <p:cNvSpPr txBox="1"/>
          <p:nvPr/>
        </p:nvSpPr>
        <p:spPr>
          <a:xfrm>
            <a:off x="7015136" y="2097257"/>
            <a:ext cx="404377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SIMULATION</a:t>
            </a:r>
          </a:p>
        </p:txBody>
      </p:sp>
      <p:pic>
        <p:nvPicPr>
          <p:cNvPr id="5" name="VOYAGER BOT v2">
            <a:hlinkClick r:id="" action="ppaction://media"/>
            <a:extLst>
              <a:ext uri="{FF2B5EF4-FFF2-40B4-BE49-F238E27FC236}">
                <a16:creationId xmlns:a16="http://schemas.microsoft.com/office/drawing/2014/main" id="{9AD396D6-84DC-93C2-4E51-A07A6D43D1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2903" y="698293"/>
            <a:ext cx="5264727" cy="54614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84526B-4080-EE51-42C5-D08685A71218}"/>
              </a:ext>
            </a:extLst>
          </p:cNvPr>
          <p:cNvSpPr/>
          <p:nvPr/>
        </p:nvSpPr>
        <p:spPr>
          <a:xfrm>
            <a:off x="461818" y="428443"/>
            <a:ext cx="11268364" cy="6001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74FB3EFA-AF57-DB84-3305-721DE7D9502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38F672B9-48A8-5C4D-7C52-51A8CA01767F}"/>
              </a:ext>
            </a:extLst>
          </p:cNvPr>
          <p:cNvSpPr/>
          <p:nvPr/>
        </p:nvSpPr>
        <p:spPr>
          <a:xfrm>
            <a:off x="0" y="6610861"/>
            <a:ext cx="12192000" cy="247139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760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9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5A52629-9A40-6666-647D-E529A6A3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FF011126-C95B-78DF-7BB3-E2B832FF09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5A5D8A-4064-EB37-A8FD-961BDE9FBD29}"/>
              </a:ext>
            </a:extLst>
          </p:cNvPr>
          <p:cNvSpPr txBox="1"/>
          <p:nvPr/>
        </p:nvSpPr>
        <p:spPr>
          <a:xfrm>
            <a:off x="4568718" y="229106"/>
            <a:ext cx="35493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DIVISION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2502A-BE12-646E-2E47-BC6D51390BAF}"/>
              </a:ext>
            </a:extLst>
          </p:cNvPr>
          <p:cNvSpPr txBox="1"/>
          <p:nvPr/>
        </p:nvSpPr>
        <p:spPr>
          <a:xfrm>
            <a:off x="3026664" y="1609344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2DDDE9-FC42-E1B9-6F9A-B7E30DFB5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871750"/>
              </p:ext>
            </p:extLst>
          </p:nvPr>
        </p:nvGraphicFramePr>
        <p:xfrm>
          <a:off x="1078992" y="1042988"/>
          <a:ext cx="10351008" cy="48153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5168">
                  <a:extLst>
                    <a:ext uri="{9D8B030D-6E8A-4147-A177-3AD203B41FA5}">
                      <a16:colId xmlns:a16="http://schemas.microsoft.com/office/drawing/2014/main" val="2834462525"/>
                    </a:ext>
                  </a:extLst>
                </a:gridCol>
                <a:gridCol w="1725168">
                  <a:extLst>
                    <a:ext uri="{9D8B030D-6E8A-4147-A177-3AD203B41FA5}">
                      <a16:colId xmlns:a16="http://schemas.microsoft.com/office/drawing/2014/main" val="3018519793"/>
                    </a:ext>
                  </a:extLst>
                </a:gridCol>
                <a:gridCol w="1725168">
                  <a:extLst>
                    <a:ext uri="{9D8B030D-6E8A-4147-A177-3AD203B41FA5}">
                      <a16:colId xmlns:a16="http://schemas.microsoft.com/office/drawing/2014/main" val="527401827"/>
                    </a:ext>
                  </a:extLst>
                </a:gridCol>
                <a:gridCol w="1725168">
                  <a:extLst>
                    <a:ext uri="{9D8B030D-6E8A-4147-A177-3AD203B41FA5}">
                      <a16:colId xmlns:a16="http://schemas.microsoft.com/office/drawing/2014/main" val="1929276815"/>
                    </a:ext>
                  </a:extLst>
                </a:gridCol>
                <a:gridCol w="1725168">
                  <a:extLst>
                    <a:ext uri="{9D8B030D-6E8A-4147-A177-3AD203B41FA5}">
                      <a16:colId xmlns:a16="http://schemas.microsoft.com/office/drawing/2014/main" val="248207681"/>
                    </a:ext>
                  </a:extLst>
                </a:gridCol>
                <a:gridCol w="1725168">
                  <a:extLst>
                    <a:ext uri="{9D8B030D-6E8A-4147-A177-3AD203B41FA5}">
                      <a16:colId xmlns:a16="http://schemas.microsoft.com/office/drawing/2014/main" val="3202940963"/>
                    </a:ext>
                  </a:extLst>
                </a:gridCol>
              </a:tblGrid>
              <a:tr h="774097">
                <a:tc>
                  <a:txBody>
                    <a:bodyPr/>
                    <a:lstStyle/>
                    <a:p>
                      <a:r>
                        <a:rPr lang="en-US" dirty="0"/>
                        <a:t>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ARYAN</a:t>
                      </a:r>
                    </a:p>
                    <a:p>
                      <a:r>
                        <a:rPr lang="en-US" dirty="0"/>
                        <a:t>WAGH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AYUUSH</a:t>
                      </a:r>
                    </a:p>
                    <a:p>
                      <a:r>
                        <a:rPr lang="en-US" dirty="0"/>
                        <a:t>SINGHAL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ABDUL</a:t>
                      </a:r>
                    </a:p>
                    <a:p>
                      <a:r>
                        <a:rPr lang="en-US" dirty="0"/>
                        <a:t>RAHMAN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HUSSEIN </a:t>
                      </a:r>
                    </a:p>
                    <a:p>
                      <a:r>
                        <a:rPr lang="en-US" dirty="0"/>
                        <a:t>ALIMSON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NAHAL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409330"/>
                  </a:ext>
                </a:extLst>
              </a:tr>
              <a:tr h="774097">
                <a:tc>
                  <a:txBody>
                    <a:bodyPr/>
                    <a:lstStyle/>
                    <a:p>
                      <a:r>
                        <a:rPr lang="en-US" dirty="0"/>
                        <a:t>PRODUCT </a:t>
                      </a:r>
                    </a:p>
                    <a:p>
                      <a:r>
                        <a:rPr lang="en-US" dirty="0"/>
                        <a:t>DESIGN AND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✔️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283001"/>
                  </a:ext>
                </a:extLst>
              </a:tr>
              <a:tr h="774097">
                <a:tc>
                  <a:txBody>
                    <a:bodyPr/>
                    <a:lstStyle/>
                    <a:p>
                      <a:r>
                        <a:rPr lang="en-US" dirty="0"/>
                        <a:t>ELECTRONIC </a:t>
                      </a:r>
                    </a:p>
                    <a:p>
                      <a:r>
                        <a:rPr lang="en-US" dirty="0"/>
                        <a:t>COMPONENTS ACQUISITION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   ✔️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691755"/>
                  </a:ext>
                </a:extLst>
              </a:tr>
              <a:tr h="774097">
                <a:tc>
                  <a:txBody>
                    <a:bodyPr/>
                    <a:lstStyle/>
                    <a:p>
                      <a:r>
                        <a:rPr lang="en-US" dirty="0"/>
                        <a:t>HARDWARE </a:t>
                      </a:r>
                    </a:p>
                    <a:p>
                      <a:r>
                        <a:rPr lang="en-US" dirty="0"/>
                        <a:t>ACQUSITION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    ✔️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995287"/>
                  </a:ext>
                </a:extLst>
              </a:tr>
              <a:tr h="774097">
                <a:tc>
                  <a:txBody>
                    <a:bodyPr/>
                    <a:lstStyle/>
                    <a:p>
                      <a:r>
                        <a:rPr lang="en-US" dirty="0"/>
                        <a:t>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545252"/>
                  </a:ext>
                </a:extLst>
              </a:tr>
              <a:tr h="774097">
                <a:tc>
                  <a:txBody>
                    <a:bodyPr/>
                    <a:lstStyle/>
                    <a:p>
                      <a:r>
                        <a:rPr lang="en-US" dirty="0"/>
                        <a:t>PROTOTYPING </a:t>
                      </a:r>
                    </a:p>
                    <a:p>
                      <a:r>
                        <a:rPr lang="en-US" dirty="0"/>
                        <a:t>AND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798270"/>
                  </a:ext>
                </a:extLst>
              </a:tr>
            </a:tbl>
          </a:graphicData>
        </a:graphic>
      </p:graphicFrame>
      <p:sp>
        <p:nvSpPr>
          <p:cNvPr id="4" name="Google Shape;86;p1">
            <a:extLst>
              <a:ext uri="{FF2B5EF4-FFF2-40B4-BE49-F238E27FC236}">
                <a16:creationId xmlns:a16="http://schemas.microsoft.com/office/drawing/2014/main" id="{E05F8F4E-8368-ACF6-3F93-691FA700FB81}"/>
              </a:ext>
            </a:extLst>
          </p:cNvPr>
          <p:cNvSpPr/>
          <p:nvPr/>
        </p:nvSpPr>
        <p:spPr>
          <a:xfrm>
            <a:off x="0" y="6605553"/>
            <a:ext cx="12192000" cy="252447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495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BC1F5D0F-BA1A-EB76-CA91-DBD7E434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00228A74-E8BA-C247-56E6-EA2E1E03BD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0A0DC0-2EFD-37DB-CE45-33C9DF8C3A0B}"/>
              </a:ext>
            </a:extLst>
          </p:cNvPr>
          <p:cNvSpPr txBox="1"/>
          <p:nvPr/>
        </p:nvSpPr>
        <p:spPr>
          <a:xfrm>
            <a:off x="3188794" y="0"/>
            <a:ext cx="5814412" cy="742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REVISED DESIGN APPROACH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62E2D-A8BA-F8E6-2E7E-A88E236FD971}"/>
              </a:ext>
            </a:extLst>
          </p:cNvPr>
          <p:cNvSpPr txBox="1"/>
          <p:nvPr/>
        </p:nvSpPr>
        <p:spPr>
          <a:xfrm>
            <a:off x="973575" y="964079"/>
            <a:ext cx="9231473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Vision-Based Tracking (Color Locking)</a:t>
            </a:r>
            <a:endParaRPr lang="en-US" sz="16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system now uses </a:t>
            </a:r>
            <a:r>
              <a:rPr lang="en-US" b="1" dirty="0"/>
              <a:t>onboard camera vision</a:t>
            </a:r>
            <a:r>
              <a:rPr lang="en-US" dirty="0"/>
              <a:t> to detect and follow the owner.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algorithm identifies and </a:t>
            </a:r>
            <a:r>
              <a:rPr lang="en-US" b="1" dirty="0"/>
              <a:t>locks onto the color</a:t>
            </a:r>
            <a:r>
              <a:rPr lang="en-US" dirty="0"/>
              <a:t> of the owner’s clothing (e.g., trousers.).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Continuously tracks the selected color region to maintain </a:t>
            </a:r>
            <a:r>
              <a:rPr lang="en-US" b="1" dirty="0"/>
              <a:t>distance and movement alignment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Powered by </a:t>
            </a:r>
            <a:r>
              <a:rPr lang="en-US" b="1" dirty="0"/>
              <a:t>Raspberry Pi 5</a:t>
            </a:r>
            <a:r>
              <a:rPr lang="en-US" dirty="0"/>
              <a:t> with onboard camera for real-time image processing.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Provides a </a:t>
            </a:r>
            <a:r>
              <a:rPr lang="en-US" b="1" dirty="0"/>
              <a:t>cost-effective and accessible</a:t>
            </a:r>
            <a:r>
              <a:rPr lang="en-US" dirty="0"/>
              <a:t> alternative to UWB tracking.</a:t>
            </a:r>
          </a:p>
          <a:p>
            <a:pPr algn="just"/>
            <a:endParaRPr lang="en-US" b="1" dirty="0"/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Advantages:</a:t>
            </a: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external sensors or beacons required.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Easier calibration and deployment.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Works in </a:t>
            </a:r>
            <a:r>
              <a:rPr lang="en-US" b="1" dirty="0"/>
              <a:t>indoor and outdoor</a:t>
            </a:r>
            <a:r>
              <a:rPr lang="en-US" dirty="0"/>
              <a:t> lighting with basic color contrast.</a:t>
            </a:r>
          </a:p>
          <a:p>
            <a:pPr algn="just">
              <a:lnSpc>
                <a:spcPct val="150000"/>
              </a:lnSpc>
            </a:pPr>
            <a:endParaRPr lang="en-US" b="1" dirty="0"/>
          </a:p>
          <a:p>
            <a:pPr algn="just">
              <a:lnSpc>
                <a:spcPct val="150000"/>
              </a:lnSpc>
            </a:pPr>
            <a:r>
              <a:rPr lang="en-US" b="1" dirty="0"/>
              <a:t>Limitation: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Accuracy may reduce in </a:t>
            </a:r>
            <a:r>
              <a:rPr lang="en-US" b="1" dirty="0"/>
              <a:t>low-light or color-similar</a:t>
            </a:r>
            <a:r>
              <a:rPr lang="en-US" dirty="0"/>
              <a:t> environments.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8F1D4655-D4CF-C743-A65E-2B8EF55240F3}"/>
              </a:ext>
            </a:extLst>
          </p:cNvPr>
          <p:cNvSpPr/>
          <p:nvPr/>
        </p:nvSpPr>
        <p:spPr>
          <a:xfrm>
            <a:off x="0" y="6556075"/>
            <a:ext cx="12192000" cy="301925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373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69FC20AE-9BB5-1CD9-C60A-26670632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1A800848-3BBD-3959-98CC-F5BE3EE4C0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F0A68C-2312-E049-E015-703CF5900DD4}"/>
              </a:ext>
            </a:extLst>
          </p:cNvPr>
          <p:cNvSpPr txBox="1"/>
          <p:nvPr/>
        </p:nvSpPr>
        <p:spPr>
          <a:xfrm>
            <a:off x="3188794" y="0"/>
            <a:ext cx="5814412" cy="742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REVISED DESIGN APPROACH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18821D8A-57CE-B944-FFA1-167DE714AA6D}"/>
              </a:ext>
            </a:extLst>
          </p:cNvPr>
          <p:cNvSpPr/>
          <p:nvPr/>
        </p:nvSpPr>
        <p:spPr>
          <a:xfrm>
            <a:off x="0" y="6556075"/>
            <a:ext cx="12192000" cy="301925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E4F40-E75F-D439-2DF5-A01EE1E83150}"/>
              </a:ext>
            </a:extLst>
          </p:cNvPr>
          <p:cNvSpPr txBox="1"/>
          <p:nvPr/>
        </p:nvSpPr>
        <p:spPr>
          <a:xfrm>
            <a:off x="850233" y="839015"/>
            <a:ext cx="10507578" cy="5232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  <a:spcAft>
                <a:spcPts val="800"/>
              </a:spcAft>
            </a:pPr>
            <a:r>
              <a:rPr lang="en-US" sz="2000" b="1" dirty="0"/>
              <a:t>A real-time "follow-me" mechanism using the Raspberry Pi</a:t>
            </a:r>
            <a:r>
              <a:rPr lang="en-US" sz="1800" b="1" dirty="0"/>
              <a:t>.</a:t>
            </a:r>
          </a:p>
          <a:p>
            <a:pPr lvl="1" algn="just">
              <a:lnSpc>
                <a:spcPct val="150000"/>
              </a:lnSpc>
              <a:spcAft>
                <a:spcPts val="800"/>
              </a:spcAft>
            </a:pPr>
            <a:r>
              <a:rPr lang="en-US" sz="1800" b="1" dirty="0"/>
              <a:t> </a:t>
            </a:r>
            <a:br>
              <a:rPr lang="en-US" sz="1800" dirty="0"/>
            </a:br>
            <a:r>
              <a:rPr lang="en-US" sz="1600" b="1" dirty="0"/>
              <a:t>Method: </a:t>
            </a:r>
            <a:r>
              <a:rPr lang="en-US" sz="1600" dirty="0"/>
              <a:t>Computer vision to lock onto and track a specific, user- selected color.</a:t>
            </a:r>
          </a:p>
          <a:p>
            <a:pPr lvl="1" algn="just">
              <a:lnSpc>
                <a:spcPct val="150000"/>
              </a:lnSpc>
              <a:spcAft>
                <a:spcPts val="800"/>
              </a:spcAft>
            </a:pPr>
            <a:r>
              <a:rPr lang="en-US" sz="1600" b="1" dirty="0"/>
              <a:t>Works On: </a:t>
            </a:r>
            <a:r>
              <a:rPr lang="en-US" sz="1600" dirty="0"/>
              <a:t>Raspberry Pi (via Serial API)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 dirty="0"/>
              <a:t>How It Works: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dirty="0"/>
              <a:t>SELECT COLOR :User chooses a color from a preset array on the dashboard (e.g., Red, Green, Blue, Yellow).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dirty="0"/>
              <a:t>2. LOCK TARGET The Pi Camera streams a live video feed. The system processes the video to find the largest object matching the selected color.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dirty="0"/>
              <a:t>3. FOLLOW The system calculates the target's position in the frame. It sends real-time commands to keep the target centered in the camera's view. This tracking is continuous, allowing the bot to follow the target smoothly, even around turns.</a:t>
            </a:r>
            <a:endParaRPr lang="en-US" sz="16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025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5B7B8696-BF07-615E-DFE1-DE9CBF7C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E1F90E41-6CAE-DF83-2F28-49317A8AB6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09B1DC-94E5-6387-1AD3-27641051A0F8}"/>
              </a:ext>
            </a:extLst>
          </p:cNvPr>
          <p:cNvSpPr txBox="1"/>
          <p:nvPr/>
        </p:nvSpPr>
        <p:spPr>
          <a:xfrm>
            <a:off x="3188794" y="0"/>
            <a:ext cx="5814412" cy="742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REVISED DESIGN APPROACH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F481AC8B-3C1A-09B8-61EE-BB44F12EDDE9}"/>
              </a:ext>
            </a:extLst>
          </p:cNvPr>
          <p:cNvSpPr/>
          <p:nvPr/>
        </p:nvSpPr>
        <p:spPr>
          <a:xfrm>
            <a:off x="0" y="6556075"/>
            <a:ext cx="12192000" cy="301925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5562C-336E-1F78-C5B6-17036EBB1351}"/>
              </a:ext>
            </a:extLst>
          </p:cNvPr>
          <p:cNvSpPr txBox="1"/>
          <p:nvPr/>
        </p:nvSpPr>
        <p:spPr>
          <a:xfrm>
            <a:off x="1284615" y="1042988"/>
            <a:ext cx="86049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🔐 Remote Alarm Activation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Call to trigger alarm from anywhere      </a:t>
            </a:r>
            <a:endParaRPr lang="en-US" sz="1800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marR="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📍 GPS Geofencing         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Virtual safe zone protection              </a:t>
            </a:r>
          </a:p>
          <a:p>
            <a:pPr marL="285750" marR="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📱 Multi-Interface Control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SMS, Bluetooth, Serial                    </a:t>
            </a:r>
          </a:p>
          <a:p>
            <a:pPr marL="285750" marR="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🌐 Real-Time GPS Tracking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Automatic location updates                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🔔</a:t>
            </a: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Smart Trigger System  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Whitelist-based access control             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🔊 120dB Siren                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High-decibel alarm deterrent               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🤖 </a:t>
            </a: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Raspberry Pi Ready   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API for advanced integrations</a:t>
            </a:r>
          </a:p>
          <a:p>
            <a:pPr lvl="2">
              <a:lnSpc>
                <a:spcPct val="150000"/>
              </a:lnSpc>
              <a:spcAft>
                <a:spcPts val="800"/>
              </a:spcAft>
            </a:pPr>
            <a:r>
              <a:rPr lang="en-US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				colour tracking follow mechanism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				A</a:t>
            </a:r>
            <a:r>
              <a:rPr lang="en-US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 companion</a:t>
            </a:r>
            <a:br>
              <a:rPr lang="en-US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				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83164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248743C-8665-050B-8AC9-C41BE3D4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E07847-91DE-536A-2C54-523EA7D35F94}"/>
              </a:ext>
            </a:extLst>
          </p:cNvPr>
          <p:cNvSpPr txBox="1"/>
          <p:nvPr/>
        </p:nvSpPr>
        <p:spPr>
          <a:xfrm>
            <a:off x="678256" y="1125676"/>
            <a:ext cx="5277462" cy="36933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FC2C8D-261A-8C3D-D465-B9827F18C7D5}"/>
              </a:ext>
            </a:extLst>
          </p:cNvPr>
          <p:cNvSpPr txBox="1"/>
          <p:nvPr/>
        </p:nvSpPr>
        <p:spPr>
          <a:xfrm>
            <a:off x="6429063" y="1123056"/>
            <a:ext cx="5277462" cy="36933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800" dirty="0"/>
          </a:p>
        </p:txBody>
      </p: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221C8F08-75DC-FEA8-2D2B-A51317D37F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2FAE3B-FB63-AE8C-620C-C96F0D47719D}"/>
              </a:ext>
            </a:extLst>
          </p:cNvPr>
          <p:cNvSpPr txBox="1"/>
          <p:nvPr/>
        </p:nvSpPr>
        <p:spPr>
          <a:xfrm>
            <a:off x="3188794" y="0"/>
            <a:ext cx="5323893" cy="742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VOYAGER-BOT FEATURES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5D922755-EB7E-060F-85A6-7B7BE0EE33EC}"/>
              </a:ext>
            </a:extLst>
          </p:cNvPr>
          <p:cNvSpPr/>
          <p:nvPr/>
        </p:nvSpPr>
        <p:spPr>
          <a:xfrm>
            <a:off x="0" y="6556075"/>
            <a:ext cx="12192000" cy="301925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43236-4C06-1104-D9F3-A02A9E3672A9}"/>
              </a:ext>
            </a:extLst>
          </p:cNvPr>
          <p:cNvSpPr txBox="1"/>
          <p:nvPr/>
        </p:nvSpPr>
        <p:spPr>
          <a:xfrm>
            <a:off x="605575" y="1042988"/>
            <a:ext cx="5323893" cy="482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GPS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Geofencing</a:t>
            </a:r>
            <a:r>
              <a:rPr lang="en-US" altLang="en-US" sz="16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en-US" sz="16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it Works: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Park your vehicle and send an SMS (e.g., f set 100) to create a 100-meter safe zone.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Monitor: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system checks its location every 60 seconds.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Alert: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If the vehicle moves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outside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this zone, it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triggers the 120dB alarm.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Notify: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You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immediately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receive an SMS alert with: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violation warning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new GPS coordinates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Google Maps link to the new location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D958D2-4635-4392-7B20-B350D0CFF816}"/>
              </a:ext>
            </a:extLst>
          </p:cNvPr>
          <p:cNvSpPr txBox="1"/>
          <p:nvPr/>
        </p:nvSpPr>
        <p:spPr>
          <a:xfrm>
            <a:off x="6429063" y="997940"/>
            <a:ext cx="5919537" cy="5257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Alarm &amp; Smart Triggers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Whitelist: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add trusted numbers (family, friends) to the system's "Trigger List."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trusted number calls the system.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auto-answers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call.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120dB siren activates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immediately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alarm sounds for 30 seconds, then the call auto-disconnects.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Calls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unknown number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silently rejected. This prevents false alarms.</a:t>
            </a:r>
          </a:p>
        </p:txBody>
      </p:sp>
    </p:spTree>
    <p:extLst>
      <p:ext uri="{BB962C8B-B14F-4D97-AF65-F5344CB8AC3E}">
        <p14:creationId xmlns:p14="http://schemas.microsoft.com/office/powerpoint/2010/main" val="2300078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5DCE49F-B6ED-5DE4-EBB5-01E76B395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236D25-3992-6527-8A33-C98DDDE4950C}"/>
              </a:ext>
            </a:extLst>
          </p:cNvPr>
          <p:cNvSpPr txBox="1"/>
          <p:nvPr/>
        </p:nvSpPr>
        <p:spPr>
          <a:xfrm>
            <a:off x="678256" y="1125676"/>
            <a:ext cx="5277462" cy="36933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92738-1724-EFAA-8F04-7557F62BA5B9}"/>
              </a:ext>
            </a:extLst>
          </p:cNvPr>
          <p:cNvSpPr txBox="1"/>
          <p:nvPr/>
        </p:nvSpPr>
        <p:spPr>
          <a:xfrm>
            <a:off x="6393256" y="1125676"/>
            <a:ext cx="5277462" cy="36933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800" dirty="0"/>
          </a:p>
        </p:txBody>
      </p: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7F6D61F8-2DCE-F497-D130-6717AA06D0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0F4690-EE06-FC89-461A-B5ED683D10BC}"/>
              </a:ext>
            </a:extLst>
          </p:cNvPr>
          <p:cNvSpPr txBox="1"/>
          <p:nvPr/>
        </p:nvSpPr>
        <p:spPr>
          <a:xfrm>
            <a:off x="3188794" y="0"/>
            <a:ext cx="5323893" cy="742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VOYAGER-BOT FEATURES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1EF98D86-3208-1431-D3A3-CA0C026EB758}"/>
              </a:ext>
            </a:extLst>
          </p:cNvPr>
          <p:cNvSpPr/>
          <p:nvPr/>
        </p:nvSpPr>
        <p:spPr>
          <a:xfrm>
            <a:off x="0" y="6556075"/>
            <a:ext cx="12192000" cy="301925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81CCA7-508D-04EE-256F-50799C6DD966}"/>
              </a:ext>
            </a:extLst>
          </p:cNvPr>
          <p:cNvSpPr txBox="1"/>
          <p:nvPr/>
        </p:nvSpPr>
        <p:spPr>
          <a:xfrm>
            <a:off x="772107" y="1057276"/>
            <a:ext cx="5323893" cy="501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600" b="1" i="1" dirty="0"/>
              <a:t>Multi-Interface Control</a:t>
            </a:r>
          </a:p>
          <a:p>
            <a:pPr algn="just">
              <a:lnSpc>
                <a:spcPct val="200000"/>
              </a:lnSpc>
            </a:pPr>
            <a:r>
              <a:rPr lang="en-US" b="1" dirty="0"/>
              <a:t>You have complete control, no matter where you are:</a:t>
            </a:r>
            <a:endParaRPr lang="en-US" dirty="0"/>
          </a:p>
          <a:p>
            <a:pPr lvl="1" algn="just">
              <a:lnSpc>
                <a:spcPct val="200000"/>
              </a:lnSpc>
            </a:pPr>
            <a:r>
              <a:rPr lang="en-US" sz="1600" b="1" dirty="0"/>
              <a:t>SMS (Global):</a:t>
            </a:r>
            <a:endParaRPr lang="en-US" sz="1600" dirty="0"/>
          </a:p>
          <a:p>
            <a:pPr marL="2857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Works from anywhere, no internet needed.</a:t>
            </a:r>
          </a:p>
          <a:p>
            <a:pPr marL="2857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commands like </a:t>
            </a:r>
            <a:r>
              <a:rPr lang="en-US" b="1" dirty="0"/>
              <a:t>g</a:t>
            </a:r>
            <a:r>
              <a:rPr lang="en-US" dirty="0"/>
              <a:t> (Get GPS) or </a:t>
            </a:r>
            <a:r>
              <a:rPr lang="en-US" b="1" dirty="0"/>
              <a:t>n</a:t>
            </a:r>
            <a:r>
              <a:rPr lang="en-US" dirty="0"/>
              <a:t> (Change Owner).</a:t>
            </a:r>
          </a:p>
          <a:p>
            <a:pPr lvl="1" algn="just">
              <a:lnSpc>
                <a:spcPct val="200000"/>
              </a:lnSpc>
            </a:pPr>
            <a:r>
              <a:rPr lang="en-US" sz="1600" b="1" dirty="0"/>
              <a:t>Bluetooth  (Local):</a:t>
            </a:r>
            <a:endParaRPr lang="en-US" sz="1600" dirty="0"/>
          </a:p>
          <a:p>
            <a:pPr marL="2857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a Bluetooth serial app on your phone.</a:t>
            </a:r>
          </a:p>
          <a:p>
            <a:pPr marL="2857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Perfect for setup, debugging, or when you're near the vehicle (no SMS cost).</a:t>
            </a:r>
          </a:p>
          <a:p>
            <a:pPr lvl="1" algn="just">
              <a:lnSpc>
                <a:spcPct val="200000"/>
              </a:lnSpc>
            </a:pPr>
            <a:r>
              <a:rPr lang="en-US" sz="1600" b="1" dirty="0"/>
              <a:t>Raspberry Pi (Advanced):</a:t>
            </a:r>
            <a:endParaRPr lang="en-US" sz="1600" dirty="0"/>
          </a:p>
          <a:p>
            <a:pPr marL="2857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Web control , Ai and App control Interface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47E8E-23FA-1581-6322-EE969AEA7A7A}"/>
              </a:ext>
            </a:extLst>
          </p:cNvPr>
          <p:cNvSpPr txBox="1"/>
          <p:nvPr/>
        </p:nvSpPr>
        <p:spPr>
          <a:xfrm>
            <a:off x="6393256" y="1042988"/>
            <a:ext cx="5540461" cy="5380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Logic: Incoming Call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Path 1: Trusted Number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Incoming Call → Number is on Whitelist?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Auto-Answer Call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Activate 120dB Alarm (30s)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Auto-Hangup Call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Path 2: Unknown Number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Incoming Call → Number is on Whitelist?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Silently Reject Call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(No Alarm, No Alert)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done to prevent false alarm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380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408328B-F8D1-B3D3-720E-842F60EF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462F194D-F53B-2ACC-1D11-F176ACA94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23" r="1" b="28170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78E19F-E446-B963-5ACD-35A219A53265}"/>
              </a:ext>
            </a:extLst>
          </p:cNvPr>
          <p:cNvSpPr txBox="1"/>
          <p:nvPr/>
        </p:nvSpPr>
        <p:spPr>
          <a:xfrm>
            <a:off x="952228" y="743447"/>
            <a:ext cx="3973385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WHAT’S IN THE BAG </a:t>
            </a:r>
          </a:p>
        </p:txBody>
      </p: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C06EAC84-31B8-EE03-8B95-A1BDBB43A6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6;p1">
            <a:extLst>
              <a:ext uri="{FF2B5EF4-FFF2-40B4-BE49-F238E27FC236}">
                <a16:creationId xmlns:a16="http://schemas.microsoft.com/office/drawing/2014/main" id="{4900E0AE-5631-3A2E-0641-62577D1E6186}"/>
              </a:ext>
            </a:extLst>
          </p:cNvPr>
          <p:cNvSpPr/>
          <p:nvPr/>
        </p:nvSpPr>
        <p:spPr>
          <a:xfrm>
            <a:off x="0" y="6544574"/>
            <a:ext cx="12192000" cy="40197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3974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2DCC098-84D3-1E6D-5325-2FF48EEE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94AA2EA1-305A-39D1-CEFF-984E6BEB47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261775-9E8C-08BB-41EB-DE90CA64C2A2}"/>
              </a:ext>
            </a:extLst>
          </p:cNvPr>
          <p:cNvSpPr txBox="1"/>
          <p:nvPr/>
        </p:nvSpPr>
        <p:spPr>
          <a:xfrm>
            <a:off x="3124413" y="5025"/>
            <a:ext cx="4608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IN THE BAG: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5932B3-4E75-2525-1684-2695FE69B4C1}"/>
              </a:ext>
            </a:extLst>
          </p:cNvPr>
          <p:cNvSpPr txBox="1"/>
          <p:nvPr/>
        </p:nvSpPr>
        <p:spPr>
          <a:xfrm>
            <a:off x="8705569" y="11280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F9FB06A9-ACA4-91C3-F172-C8B795CBB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46" y="902134"/>
            <a:ext cx="4077025" cy="56416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89C1F2-3262-2B8A-726F-F2E7AC2BAF1A}"/>
              </a:ext>
            </a:extLst>
          </p:cNvPr>
          <p:cNvCxnSpPr>
            <a:cxnSpLocks/>
          </p:cNvCxnSpPr>
          <p:nvPr/>
        </p:nvCxnSpPr>
        <p:spPr>
          <a:xfrm>
            <a:off x="3137836" y="1857676"/>
            <a:ext cx="2184662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FB0288-1A64-FEC3-0035-C907C1BA7A26}"/>
              </a:ext>
            </a:extLst>
          </p:cNvPr>
          <p:cNvCxnSpPr>
            <a:cxnSpLocks/>
          </p:cNvCxnSpPr>
          <p:nvPr/>
        </p:nvCxnSpPr>
        <p:spPr>
          <a:xfrm>
            <a:off x="3338423" y="2415396"/>
            <a:ext cx="1958196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C25DE0-519A-9B13-621E-BEAC1DCC1859}"/>
              </a:ext>
            </a:extLst>
          </p:cNvPr>
          <p:cNvCxnSpPr>
            <a:cxnSpLocks/>
          </p:cNvCxnSpPr>
          <p:nvPr/>
        </p:nvCxnSpPr>
        <p:spPr>
          <a:xfrm flipH="1" flipV="1">
            <a:off x="2509283" y="1224950"/>
            <a:ext cx="9630" cy="1190446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6ED204-251C-15F2-7649-248C622E38D0}"/>
              </a:ext>
            </a:extLst>
          </p:cNvPr>
          <p:cNvCxnSpPr>
            <a:cxnSpLocks/>
          </p:cNvCxnSpPr>
          <p:nvPr/>
        </p:nvCxnSpPr>
        <p:spPr>
          <a:xfrm>
            <a:off x="3338423" y="4088921"/>
            <a:ext cx="1958196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1019D5-5FA4-5332-C21F-C1C9A95E99D2}"/>
              </a:ext>
            </a:extLst>
          </p:cNvPr>
          <p:cNvCxnSpPr>
            <a:cxnSpLocks/>
          </p:cNvCxnSpPr>
          <p:nvPr/>
        </p:nvCxnSpPr>
        <p:spPr>
          <a:xfrm>
            <a:off x="4114800" y="5270740"/>
            <a:ext cx="1345721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D96E7AB-8F33-93C2-0BAC-298E00EF2DAD}"/>
              </a:ext>
            </a:extLst>
          </p:cNvPr>
          <p:cNvCxnSpPr/>
          <p:nvPr/>
        </p:nvCxnSpPr>
        <p:spPr>
          <a:xfrm>
            <a:off x="2087592" y="4408098"/>
            <a:ext cx="0" cy="69874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20446A3-1145-0D13-4354-177646545F95}"/>
              </a:ext>
            </a:extLst>
          </p:cNvPr>
          <p:cNvCxnSpPr/>
          <p:nvPr/>
        </p:nvCxnSpPr>
        <p:spPr>
          <a:xfrm>
            <a:off x="2239992" y="4560498"/>
            <a:ext cx="0" cy="69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15EECF2-1EA5-686B-CA6F-6A350ACF4D11}"/>
              </a:ext>
            </a:extLst>
          </p:cNvPr>
          <p:cNvCxnSpPr/>
          <p:nvPr/>
        </p:nvCxnSpPr>
        <p:spPr>
          <a:xfrm>
            <a:off x="2700068" y="4218317"/>
            <a:ext cx="0" cy="888521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221839B-4DD7-FB86-C588-A5F6DE86BCAB}"/>
              </a:ext>
            </a:extLst>
          </p:cNvPr>
          <p:cNvCxnSpPr>
            <a:cxnSpLocks/>
          </p:cNvCxnSpPr>
          <p:nvPr/>
        </p:nvCxnSpPr>
        <p:spPr>
          <a:xfrm>
            <a:off x="1104181" y="1042988"/>
            <a:ext cx="638355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0FB0EAB-775C-7322-155F-C6CD34E8835A}"/>
              </a:ext>
            </a:extLst>
          </p:cNvPr>
          <p:cNvCxnSpPr/>
          <p:nvPr/>
        </p:nvCxnSpPr>
        <p:spPr>
          <a:xfrm flipH="1">
            <a:off x="508958" y="2708694"/>
            <a:ext cx="508959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72A41B0-CC76-49A0-7C5D-CDFA81713C50}"/>
              </a:ext>
            </a:extLst>
          </p:cNvPr>
          <p:cNvCxnSpPr/>
          <p:nvPr/>
        </p:nvCxnSpPr>
        <p:spPr>
          <a:xfrm>
            <a:off x="2818158" y="3114136"/>
            <a:ext cx="2340438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3E60FE4-7E5D-8015-B973-FB6E95CFD9E1}"/>
              </a:ext>
            </a:extLst>
          </p:cNvPr>
          <p:cNvCxnSpPr/>
          <p:nvPr/>
        </p:nvCxnSpPr>
        <p:spPr>
          <a:xfrm>
            <a:off x="2518913" y="5633049"/>
            <a:ext cx="2863970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ECA154D-C726-B3FF-20F2-A2EF5FCCDFC7}"/>
              </a:ext>
            </a:extLst>
          </p:cNvPr>
          <p:cNvCxnSpPr/>
          <p:nvPr/>
        </p:nvCxnSpPr>
        <p:spPr>
          <a:xfrm>
            <a:off x="2147977" y="5848709"/>
            <a:ext cx="3148642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Google Shape;86;p1">
            <a:extLst>
              <a:ext uri="{FF2B5EF4-FFF2-40B4-BE49-F238E27FC236}">
                <a16:creationId xmlns:a16="http://schemas.microsoft.com/office/drawing/2014/main" id="{03398770-8C15-5731-2C7A-16FA7EA8DD42}"/>
              </a:ext>
            </a:extLst>
          </p:cNvPr>
          <p:cNvSpPr/>
          <p:nvPr/>
        </p:nvSpPr>
        <p:spPr>
          <a:xfrm>
            <a:off x="0" y="6759461"/>
            <a:ext cx="12192000" cy="187084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F20A34CD-85F8-64A3-1CC6-7C89A4AF97A6}"/>
              </a:ext>
            </a:extLst>
          </p:cNvPr>
          <p:cNvSpPr/>
          <p:nvPr/>
        </p:nvSpPr>
        <p:spPr>
          <a:xfrm>
            <a:off x="5242680" y="2334823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B7B5432-D0AF-5E8A-C136-C64151FBA645}"/>
              </a:ext>
            </a:extLst>
          </p:cNvPr>
          <p:cNvSpPr/>
          <p:nvPr/>
        </p:nvSpPr>
        <p:spPr>
          <a:xfrm>
            <a:off x="5242680" y="3055916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4F23DF8-C247-3488-AC6C-EC6BB972773E}"/>
              </a:ext>
            </a:extLst>
          </p:cNvPr>
          <p:cNvSpPr/>
          <p:nvPr/>
        </p:nvSpPr>
        <p:spPr>
          <a:xfrm>
            <a:off x="5242680" y="4002183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AF56D48-DBAC-A34E-7E8D-73DC8930190E}"/>
              </a:ext>
            </a:extLst>
          </p:cNvPr>
          <p:cNvSpPr/>
          <p:nvPr/>
        </p:nvSpPr>
        <p:spPr>
          <a:xfrm>
            <a:off x="5236976" y="5199251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164088B-F48B-6C63-2084-105991FE7B6B}"/>
              </a:ext>
            </a:extLst>
          </p:cNvPr>
          <p:cNvSpPr/>
          <p:nvPr/>
        </p:nvSpPr>
        <p:spPr>
          <a:xfrm>
            <a:off x="5236976" y="5567798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253D268-B537-094E-71E7-6D62996F326F}"/>
              </a:ext>
            </a:extLst>
          </p:cNvPr>
          <p:cNvSpPr/>
          <p:nvPr/>
        </p:nvSpPr>
        <p:spPr>
          <a:xfrm>
            <a:off x="5236975" y="5783457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8E7E4318-60C6-0713-BCD1-DDE955C079C0}"/>
              </a:ext>
            </a:extLst>
          </p:cNvPr>
          <p:cNvSpPr/>
          <p:nvPr/>
        </p:nvSpPr>
        <p:spPr>
          <a:xfrm>
            <a:off x="144861" y="2611060"/>
            <a:ext cx="508959" cy="19526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F0A5EF0-E8DA-2E7A-B7D9-EC6F903279EE}"/>
              </a:ext>
            </a:extLst>
          </p:cNvPr>
          <p:cNvSpPr/>
          <p:nvPr/>
        </p:nvSpPr>
        <p:spPr>
          <a:xfrm>
            <a:off x="1706926" y="966936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68D9AF-907C-7484-484F-EF07BB713BF2}"/>
              </a:ext>
            </a:extLst>
          </p:cNvPr>
          <p:cNvSpPr/>
          <p:nvPr/>
        </p:nvSpPr>
        <p:spPr>
          <a:xfrm>
            <a:off x="2604110" y="4988031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453C98A-FB18-EBDC-148A-F0318F629CF3}"/>
              </a:ext>
            </a:extLst>
          </p:cNvPr>
          <p:cNvSpPr/>
          <p:nvPr/>
        </p:nvSpPr>
        <p:spPr>
          <a:xfrm>
            <a:off x="1846051" y="5042573"/>
            <a:ext cx="393941" cy="12951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0A537C48-B0FB-7798-7E9D-FEBC8FE87A9E}"/>
              </a:ext>
            </a:extLst>
          </p:cNvPr>
          <p:cNvSpPr/>
          <p:nvPr/>
        </p:nvSpPr>
        <p:spPr>
          <a:xfrm>
            <a:off x="2283008" y="1128081"/>
            <a:ext cx="437155" cy="16114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79F29DC2-BCC3-ACE9-5F03-12F7BF7AAC40}"/>
              </a:ext>
            </a:extLst>
          </p:cNvPr>
          <p:cNvSpPr/>
          <p:nvPr/>
        </p:nvSpPr>
        <p:spPr>
          <a:xfrm>
            <a:off x="5242681" y="1771618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D7A1997-6973-177E-F790-CDA3C0305EFD}"/>
              </a:ext>
            </a:extLst>
          </p:cNvPr>
          <p:cNvSpPr txBox="1"/>
          <p:nvPr/>
        </p:nvSpPr>
        <p:spPr>
          <a:xfrm>
            <a:off x="5645943" y="656165"/>
            <a:ext cx="6299464" cy="5887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ELECTRICAL COMPONENTS WIRING</a:t>
            </a:r>
          </a:p>
          <a:p>
            <a:pPr algn="just"/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1300" b="1" dirty="0"/>
              <a:t>1. 12V 2200mAh Battery Pack</a:t>
            </a:r>
            <a:endParaRPr lang="en-US" sz="13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Primary </a:t>
            </a:r>
            <a:r>
              <a:rPr lang="en-US" sz="1300" b="1" dirty="0"/>
              <a:t>power source</a:t>
            </a:r>
            <a:r>
              <a:rPr lang="en-US" sz="1300" dirty="0"/>
              <a:t> for the entire system.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Supplies 12V to motors, converters, and control modules.</a:t>
            </a:r>
          </a:p>
          <a:p>
            <a:pPr algn="just">
              <a:lnSpc>
                <a:spcPct val="150000"/>
              </a:lnSpc>
            </a:pPr>
            <a:r>
              <a:rPr lang="en-US" sz="1300" b="1" dirty="0"/>
              <a:t>2. Adjustable Buck Converter</a:t>
            </a:r>
            <a:endParaRPr lang="en-US" sz="13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Steps down voltage from 12V to </a:t>
            </a:r>
            <a:r>
              <a:rPr lang="en-US" sz="1300" b="1" dirty="0"/>
              <a:t>5V and 3.3V</a:t>
            </a:r>
            <a:r>
              <a:rPr lang="en-US" sz="1300" dirty="0"/>
              <a:t> for logic circuits.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Provides stable, regulated power for sensitive electronics.</a:t>
            </a:r>
          </a:p>
          <a:p>
            <a:pPr algn="just">
              <a:lnSpc>
                <a:spcPct val="150000"/>
              </a:lnSpc>
            </a:pPr>
            <a:r>
              <a:rPr lang="en-US" sz="1300" b="1" dirty="0"/>
              <a:t>3. 5V Power Line</a:t>
            </a:r>
            <a:endParaRPr lang="en-US" sz="13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Distributes </a:t>
            </a:r>
            <a:r>
              <a:rPr lang="en-US" sz="1300" b="1" dirty="0"/>
              <a:t>regulated 5V supply</a:t>
            </a:r>
            <a:r>
              <a:rPr lang="en-US" sz="1300" dirty="0"/>
              <a:t> to the Raspberry Pi, ESP32, and GSM module.</a:t>
            </a:r>
          </a:p>
          <a:p>
            <a:pPr algn="just">
              <a:lnSpc>
                <a:spcPct val="150000"/>
              </a:lnSpc>
            </a:pPr>
            <a:r>
              <a:rPr lang="en-US" sz="1300" b="1" dirty="0"/>
              <a:t>4. 12V Power Line</a:t>
            </a:r>
            <a:endParaRPr lang="en-US" sz="13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Delivers </a:t>
            </a:r>
            <a:r>
              <a:rPr lang="en-US" sz="1300" b="1" dirty="0"/>
              <a:t>direct 12V output</a:t>
            </a:r>
            <a:r>
              <a:rPr lang="en-US" sz="1300" dirty="0"/>
              <a:t> to high-power components such as motors and driver boards.</a:t>
            </a:r>
          </a:p>
          <a:p>
            <a:pPr algn="just">
              <a:lnSpc>
                <a:spcPct val="150000"/>
              </a:lnSpc>
            </a:pPr>
            <a:r>
              <a:rPr lang="en-US" sz="1300" b="1" dirty="0"/>
              <a:t>5. Ground Bus</a:t>
            </a:r>
            <a:endParaRPr lang="en-US" sz="13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Common grounding rail ensuring </a:t>
            </a:r>
            <a:r>
              <a:rPr lang="en-US" sz="1300" b="1" dirty="0"/>
              <a:t>electrical stability</a:t>
            </a:r>
            <a:r>
              <a:rPr lang="en-US" sz="1300" dirty="0"/>
              <a:t> and reducing noise across all modules.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6. GPS Cable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Connects the GSM/GPS module to its </a:t>
            </a:r>
            <a:r>
              <a:rPr lang="en-US" sz="1300" b="1" dirty="0"/>
              <a:t>external GPS antenna</a:t>
            </a:r>
            <a:r>
              <a:rPr lang="en-US" sz="1300" dirty="0"/>
              <a:t> for accurate satellite tracking.</a:t>
            </a:r>
          </a:p>
        </p:txBody>
      </p:sp>
    </p:spTree>
    <p:extLst>
      <p:ext uri="{BB962C8B-B14F-4D97-AF65-F5344CB8AC3E}">
        <p14:creationId xmlns:p14="http://schemas.microsoft.com/office/powerpoint/2010/main" val="2495344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3648BBC-FF8B-CAF7-C271-2AF56B28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C5F163AE-BA61-C840-9A5F-FCAED7C733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7EC0CA-C9AD-C851-71BC-0EE0709654A3}"/>
              </a:ext>
            </a:extLst>
          </p:cNvPr>
          <p:cNvSpPr txBox="1"/>
          <p:nvPr/>
        </p:nvSpPr>
        <p:spPr>
          <a:xfrm>
            <a:off x="3124413" y="5025"/>
            <a:ext cx="4608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IN THE BAG: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83A5B-4796-A571-8623-E1977DC1A07F}"/>
              </a:ext>
            </a:extLst>
          </p:cNvPr>
          <p:cNvSpPr txBox="1"/>
          <p:nvPr/>
        </p:nvSpPr>
        <p:spPr>
          <a:xfrm>
            <a:off x="8705569" y="11280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B965D53C-0DEF-4480-0C28-BD69DA84F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46" y="902134"/>
            <a:ext cx="4077025" cy="56416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2349E0-10B4-2B85-80A1-9A41BDA54C31}"/>
              </a:ext>
            </a:extLst>
          </p:cNvPr>
          <p:cNvCxnSpPr>
            <a:cxnSpLocks/>
          </p:cNvCxnSpPr>
          <p:nvPr/>
        </p:nvCxnSpPr>
        <p:spPr>
          <a:xfrm>
            <a:off x="3137836" y="1857676"/>
            <a:ext cx="2184662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4FF5C4-099F-F200-D4A0-ACA9EE4C5333}"/>
              </a:ext>
            </a:extLst>
          </p:cNvPr>
          <p:cNvCxnSpPr>
            <a:cxnSpLocks/>
          </p:cNvCxnSpPr>
          <p:nvPr/>
        </p:nvCxnSpPr>
        <p:spPr>
          <a:xfrm>
            <a:off x="3338423" y="2415396"/>
            <a:ext cx="1958196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D2739A-5C5C-0C73-0922-9084D1484588}"/>
              </a:ext>
            </a:extLst>
          </p:cNvPr>
          <p:cNvCxnSpPr>
            <a:cxnSpLocks/>
          </p:cNvCxnSpPr>
          <p:nvPr/>
        </p:nvCxnSpPr>
        <p:spPr>
          <a:xfrm flipH="1" flipV="1">
            <a:off x="2509283" y="1224950"/>
            <a:ext cx="9630" cy="1190446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1728B1-26CD-0A53-E6AF-FA0851CA97D4}"/>
              </a:ext>
            </a:extLst>
          </p:cNvPr>
          <p:cNvCxnSpPr>
            <a:cxnSpLocks/>
          </p:cNvCxnSpPr>
          <p:nvPr/>
        </p:nvCxnSpPr>
        <p:spPr>
          <a:xfrm>
            <a:off x="3338423" y="4088921"/>
            <a:ext cx="1958196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C71899-4B2F-EA02-3C0C-787AB918F537}"/>
              </a:ext>
            </a:extLst>
          </p:cNvPr>
          <p:cNvCxnSpPr>
            <a:cxnSpLocks/>
          </p:cNvCxnSpPr>
          <p:nvPr/>
        </p:nvCxnSpPr>
        <p:spPr>
          <a:xfrm>
            <a:off x="4114800" y="5270740"/>
            <a:ext cx="1345721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99285D0-4380-F431-79ED-FF0108E879F5}"/>
              </a:ext>
            </a:extLst>
          </p:cNvPr>
          <p:cNvCxnSpPr/>
          <p:nvPr/>
        </p:nvCxnSpPr>
        <p:spPr>
          <a:xfrm>
            <a:off x="2087592" y="4408098"/>
            <a:ext cx="0" cy="69874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98A4F9B-982E-0229-26BF-B4B031FBE895}"/>
              </a:ext>
            </a:extLst>
          </p:cNvPr>
          <p:cNvCxnSpPr/>
          <p:nvPr/>
        </p:nvCxnSpPr>
        <p:spPr>
          <a:xfrm>
            <a:off x="2239992" y="4560498"/>
            <a:ext cx="0" cy="69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7B499E6-27B0-B944-548F-EDF01B9D5931}"/>
              </a:ext>
            </a:extLst>
          </p:cNvPr>
          <p:cNvCxnSpPr/>
          <p:nvPr/>
        </p:nvCxnSpPr>
        <p:spPr>
          <a:xfrm>
            <a:off x="2700068" y="4218317"/>
            <a:ext cx="0" cy="888521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846D20F-AAED-F33D-E678-DE9425A16177}"/>
              </a:ext>
            </a:extLst>
          </p:cNvPr>
          <p:cNvCxnSpPr>
            <a:cxnSpLocks/>
          </p:cNvCxnSpPr>
          <p:nvPr/>
        </p:nvCxnSpPr>
        <p:spPr>
          <a:xfrm>
            <a:off x="1104181" y="1042988"/>
            <a:ext cx="638355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4C37BEC-47E6-A2DC-B32A-323469461C48}"/>
              </a:ext>
            </a:extLst>
          </p:cNvPr>
          <p:cNvCxnSpPr/>
          <p:nvPr/>
        </p:nvCxnSpPr>
        <p:spPr>
          <a:xfrm flipH="1">
            <a:off x="508958" y="2708694"/>
            <a:ext cx="508959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30AD8D-2690-B2B0-1CB7-6E4462183239}"/>
              </a:ext>
            </a:extLst>
          </p:cNvPr>
          <p:cNvCxnSpPr/>
          <p:nvPr/>
        </p:nvCxnSpPr>
        <p:spPr>
          <a:xfrm>
            <a:off x="2818158" y="3114136"/>
            <a:ext cx="2340438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F5EC7E7-1239-07C5-5292-43C7054B0ECE}"/>
              </a:ext>
            </a:extLst>
          </p:cNvPr>
          <p:cNvCxnSpPr/>
          <p:nvPr/>
        </p:nvCxnSpPr>
        <p:spPr>
          <a:xfrm>
            <a:off x="2518913" y="5633049"/>
            <a:ext cx="2863970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C2E01AD-6EDE-36E6-8DD8-9CBA54227478}"/>
              </a:ext>
            </a:extLst>
          </p:cNvPr>
          <p:cNvCxnSpPr/>
          <p:nvPr/>
        </p:nvCxnSpPr>
        <p:spPr>
          <a:xfrm>
            <a:off x="2147977" y="5848709"/>
            <a:ext cx="3148642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Google Shape;86;p1">
            <a:extLst>
              <a:ext uri="{FF2B5EF4-FFF2-40B4-BE49-F238E27FC236}">
                <a16:creationId xmlns:a16="http://schemas.microsoft.com/office/drawing/2014/main" id="{451689B7-12EC-A9D0-B06D-BE9C53B2135A}"/>
              </a:ext>
            </a:extLst>
          </p:cNvPr>
          <p:cNvSpPr/>
          <p:nvPr/>
        </p:nvSpPr>
        <p:spPr>
          <a:xfrm>
            <a:off x="0" y="6759461"/>
            <a:ext cx="12192000" cy="187084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CE23E1E3-A7E8-7259-D707-D807AEA4D87E}"/>
              </a:ext>
            </a:extLst>
          </p:cNvPr>
          <p:cNvSpPr/>
          <p:nvPr/>
        </p:nvSpPr>
        <p:spPr>
          <a:xfrm>
            <a:off x="5242680" y="2334823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CF9DAE1D-0E96-4FFE-06D6-FB9B030B2227}"/>
              </a:ext>
            </a:extLst>
          </p:cNvPr>
          <p:cNvSpPr/>
          <p:nvPr/>
        </p:nvSpPr>
        <p:spPr>
          <a:xfrm>
            <a:off x="5242680" y="3055916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14D9B775-237E-5CF0-6FC7-F0E86A807BB0}"/>
              </a:ext>
            </a:extLst>
          </p:cNvPr>
          <p:cNvSpPr/>
          <p:nvPr/>
        </p:nvSpPr>
        <p:spPr>
          <a:xfrm>
            <a:off x="5242680" y="4002183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D28B3687-AF4B-405A-C8E1-021D5279DE6A}"/>
              </a:ext>
            </a:extLst>
          </p:cNvPr>
          <p:cNvSpPr/>
          <p:nvPr/>
        </p:nvSpPr>
        <p:spPr>
          <a:xfrm>
            <a:off x="5236976" y="5199251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78B641C-61AC-C084-F884-71D7CB2CB99F}"/>
              </a:ext>
            </a:extLst>
          </p:cNvPr>
          <p:cNvSpPr/>
          <p:nvPr/>
        </p:nvSpPr>
        <p:spPr>
          <a:xfrm>
            <a:off x="5236976" y="5567798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951A23D-4CD2-69BE-92D6-C0C9FFB084D0}"/>
              </a:ext>
            </a:extLst>
          </p:cNvPr>
          <p:cNvSpPr/>
          <p:nvPr/>
        </p:nvSpPr>
        <p:spPr>
          <a:xfrm>
            <a:off x="5236975" y="5783457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5B1AAA3-A56B-3FE0-C3D5-D5021E21DB7B}"/>
              </a:ext>
            </a:extLst>
          </p:cNvPr>
          <p:cNvSpPr/>
          <p:nvPr/>
        </p:nvSpPr>
        <p:spPr>
          <a:xfrm>
            <a:off x="144861" y="2611060"/>
            <a:ext cx="508959" cy="19526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46A7677-6F8C-83FC-B889-A7A2432C8E0F}"/>
              </a:ext>
            </a:extLst>
          </p:cNvPr>
          <p:cNvSpPr/>
          <p:nvPr/>
        </p:nvSpPr>
        <p:spPr>
          <a:xfrm>
            <a:off x="1706926" y="966936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C18697EF-40C2-C7E6-6314-AB61BD8D4B51}"/>
              </a:ext>
            </a:extLst>
          </p:cNvPr>
          <p:cNvSpPr/>
          <p:nvPr/>
        </p:nvSpPr>
        <p:spPr>
          <a:xfrm>
            <a:off x="2604110" y="4988031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90AB875-7240-90BC-D742-C1A645ABBA7A}"/>
              </a:ext>
            </a:extLst>
          </p:cNvPr>
          <p:cNvSpPr/>
          <p:nvPr/>
        </p:nvSpPr>
        <p:spPr>
          <a:xfrm>
            <a:off x="1846051" y="5042573"/>
            <a:ext cx="393941" cy="12951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25BA20D1-3AD2-516D-6086-0D1D25701F08}"/>
              </a:ext>
            </a:extLst>
          </p:cNvPr>
          <p:cNvSpPr/>
          <p:nvPr/>
        </p:nvSpPr>
        <p:spPr>
          <a:xfrm>
            <a:off x="2283008" y="1128081"/>
            <a:ext cx="437155" cy="16114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12BDDCA8-E8ED-53F1-9199-6B0BD3A299FD}"/>
              </a:ext>
            </a:extLst>
          </p:cNvPr>
          <p:cNvSpPr/>
          <p:nvPr/>
        </p:nvSpPr>
        <p:spPr>
          <a:xfrm>
            <a:off x="5242681" y="1771618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7482E06-B471-6141-8B33-90795E16AF56}"/>
              </a:ext>
            </a:extLst>
          </p:cNvPr>
          <p:cNvSpPr txBox="1"/>
          <p:nvPr/>
        </p:nvSpPr>
        <p:spPr>
          <a:xfrm>
            <a:off x="5783951" y="764519"/>
            <a:ext cx="6299464" cy="575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 dirty="0"/>
              <a:t>7. GSM Antenna Cable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Provides reliable </a:t>
            </a:r>
            <a:r>
              <a:rPr lang="en-US" sz="1300" b="1" dirty="0"/>
              <a:t>cellular signal reception</a:t>
            </a:r>
            <a:r>
              <a:rPr lang="en-US" sz="1300" dirty="0"/>
              <a:t> for GSM-based communication and SMS control.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8. Raspberry Pi Camera Module 3 (NoIR)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Captures live video for </a:t>
            </a:r>
            <a:r>
              <a:rPr lang="en-US" sz="1300" b="1" dirty="0"/>
              <a:t>color-based tracking</a:t>
            </a:r>
            <a:r>
              <a:rPr lang="en-US" sz="1300" dirty="0"/>
              <a:t> of the suitcase owner.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NoIR sensor enhances </a:t>
            </a:r>
            <a:r>
              <a:rPr lang="en-US" sz="1300" b="1" dirty="0"/>
              <a:t>low-light performance</a:t>
            </a:r>
            <a:r>
              <a:rPr lang="en-US" sz="1300" dirty="0"/>
              <a:t> and visual clarity.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9. Quectel EC200U-CN GSM/GPS Module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Handles </a:t>
            </a:r>
            <a:r>
              <a:rPr lang="en-US" sz="1300" b="1" dirty="0"/>
              <a:t>SMS communication</a:t>
            </a:r>
            <a:r>
              <a:rPr lang="en-US" sz="1300" dirty="0"/>
              <a:t> and </a:t>
            </a:r>
            <a:r>
              <a:rPr lang="en-US" sz="1300" b="1" dirty="0"/>
              <a:t>real-time GPS location</a:t>
            </a:r>
            <a:r>
              <a:rPr lang="en-US" sz="1300" dirty="0"/>
              <a:t> reporting.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Interfaced with ESP32 for command processing.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10. ESP32 Microcontroller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Manages </a:t>
            </a:r>
            <a:r>
              <a:rPr lang="en-US" sz="1300" b="1" dirty="0"/>
              <a:t>Bluetooth communication</a:t>
            </a:r>
            <a:r>
              <a:rPr lang="en-US" sz="1300" dirty="0"/>
              <a:t>, </a:t>
            </a:r>
            <a:r>
              <a:rPr lang="en-US" sz="1300" b="1" dirty="0"/>
              <a:t>GSM control</a:t>
            </a:r>
            <a:r>
              <a:rPr lang="en-US" sz="1300" dirty="0"/>
              <a:t>, and </a:t>
            </a:r>
            <a:r>
              <a:rPr lang="en-US" sz="1300" b="1" dirty="0"/>
              <a:t>GPS data relay</a:t>
            </a:r>
            <a:r>
              <a:rPr lang="en-US" sz="1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Acts as the communication hub between user and system.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11. Raspberry Pi 5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Core processing unit executing the </a:t>
            </a:r>
            <a:r>
              <a:rPr lang="en-US" sz="1300" b="1" dirty="0"/>
              <a:t>vision algorithm</a:t>
            </a:r>
            <a:r>
              <a:rPr lang="en-US" sz="1300" dirty="0"/>
              <a:t> and movement logic.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Interfaces with camera, ESP32, and motor driver for coordinated operation.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12. Motor Driver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Controls the </a:t>
            </a:r>
            <a:r>
              <a:rPr lang="en-US" sz="1300" b="1" dirty="0"/>
              <a:t>12V DC motors</a:t>
            </a:r>
            <a:r>
              <a:rPr lang="en-US" sz="1300" dirty="0"/>
              <a:t> for differential movement.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Receives motion commands from Raspberry Pi to drive the suitcase autonomously.</a:t>
            </a:r>
          </a:p>
        </p:txBody>
      </p:sp>
    </p:spTree>
    <p:extLst>
      <p:ext uri="{BB962C8B-B14F-4D97-AF65-F5344CB8AC3E}">
        <p14:creationId xmlns:p14="http://schemas.microsoft.com/office/powerpoint/2010/main" val="2083779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9C2FCA15-AAA9-6DB9-61B2-2224DD36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F0EA3-6D3F-D773-AEEE-5CF71EA26646}"/>
              </a:ext>
            </a:extLst>
          </p:cNvPr>
          <p:cNvSpPr txBox="1"/>
          <p:nvPr/>
        </p:nvSpPr>
        <p:spPr>
          <a:xfrm>
            <a:off x="704503" y="85092"/>
            <a:ext cx="5519829" cy="1042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 OF OPERATION  Voyager-Bot Communication</a:t>
            </a:r>
            <a:endParaRPr lang="en-US" sz="2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1713A-5833-1E3E-F9A0-6A036D3EC73B}"/>
              </a:ext>
            </a:extLst>
          </p:cNvPr>
          <p:cNvSpPr txBox="1"/>
          <p:nvPr/>
        </p:nvSpPr>
        <p:spPr>
          <a:xfrm>
            <a:off x="101600" y="1677444"/>
            <a:ext cx="5926818" cy="40975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bag is connected to owner via Bluetooth and SMS, this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ensures the suitcase remains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accessible, trackable, and controllable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— whether nearby via Bluetooth or remotely via GSM/SMS.</a:t>
            </a:r>
            <a:endParaRPr lang="en-US" b="1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ESP32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handles:</a:t>
            </a:r>
          </a:p>
          <a:p>
            <a:pPr marL="742950" lvl="1"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Bluetooth serial communication (for local control &amp; debugging).</a:t>
            </a:r>
          </a:p>
          <a:p>
            <a:pPr marL="742950" lvl="1"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GSM module (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Quectel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EC200U-CN) for SMS and GPS operations.</a:t>
            </a:r>
          </a:p>
          <a:p>
            <a:pPr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Bluetooth Terminal App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(on mobile) used to connect wirelessly to ESP32.</a:t>
            </a:r>
          </a:p>
          <a:p>
            <a:pPr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SMS Commands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allow control when Bluetooth range is exceeded.</a:t>
            </a:r>
          </a:p>
          <a:p>
            <a:pPr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 : 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Created an app where we integrated AI companion w live camera feed and motion control for voyager-bot</a:t>
            </a:r>
          </a:p>
        </p:txBody>
      </p: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CBA4F234-3788-B09C-F8CB-0ABE453D07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ED55C0-373A-D5FB-F1AD-919B367CDE6A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A102E235-8170-6DA8-0434-0A14008CED45}"/>
              </a:ext>
            </a:extLst>
          </p:cNvPr>
          <p:cNvSpPr/>
          <p:nvPr/>
        </p:nvSpPr>
        <p:spPr>
          <a:xfrm>
            <a:off x="-6828" y="6627272"/>
            <a:ext cx="12192000" cy="230728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lang="en-IN"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B1D9D0D-711E-831D-E4C2-ED047B2DDF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7" b="700"/>
          <a:stretch>
            <a:fillRect/>
          </a:stretch>
        </p:blipFill>
        <p:spPr>
          <a:xfrm>
            <a:off x="9180894" y="0"/>
            <a:ext cx="3016978" cy="6614057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5E37C14F-C33D-CFFA-6A78-5AED20594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550" y="-1"/>
            <a:ext cx="2976326" cy="6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72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09D081E-693E-A782-8C66-3BD63F04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" name="Rectangle 132">
            <a:extLst>
              <a:ext uri="{FF2B5EF4-FFF2-40B4-BE49-F238E27FC236}">
                <a16:creationId xmlns:a16="http://schemas.microsoft.com/office/drawing/2014/main" id="{C9002B31-A065-494A-B889-DFEFD7D89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4A468F8-1E69-C81C-9B0F-167F4DC6FC76}"/>
              </a:ext>
            </a:extLst>
          </p:cNvPr>
          <p:cNvSpPr txBox="1"/>
          <p:nvPr/>
        </p:nvSpPr>
        <p:spPr>
          <a:xfrm>
            <a:off x="3447771" y="165913"/>
            <a:ext cx="5257798" cy="7262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VOYAGER-BOT COMMUNICATION</a:t>
            </a: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9324AD81-E2EA-7384-8E4F-884168F303EF}"/>
              </a:ext>
            </a:extLst>
          </p:cNvPr>
          <p:cNvSpPr/>
          <p:nvPr/>
        </p:nvSpPr>
        <p:spPr>
          <a:xfrm>
            <a:off x="10611429" y="914400"/>
            <a:ext cx="1029707" cy="210153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ctr" anchorCtr="0">
            <a:normAutofit fontScale="25000" lnSpcReduction="20000"/>
          </a:bodyPr>
          <a:lstStyle/>
          <a:p>
            <a:pPr marR="0"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US" sz="2000" b="1" i="0" u="none" strike="noStrike" kern="1200" cap="none" dirty="0">
              <a:solidFill>
                <a:schemeClr val="tx1">
                  <a:alpha val="60000"/>
                </a:schemeClr>
              </a:solidFill>
              <a:latin typeface="+mn-lt"/>
              <a:ea typeface="+mn-ea"/>
              <a:cs typeface="+mn-cs"/>
              <a:sym typeface="Times New Roman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93B717-0CD6-A28B-425E-F8FCAE195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" t="9189" r="-435" b="9774"/>
          <a:stretch>
            <a:fillRect/>
          </a:stretch>
        </p:blipFill>
        <p:spPr>
          <a:xfrm>
            <a:off x="661316" y="1184257"/>
            <a:ext cx="263880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7E2FAC19-1DB9-C98E-B567-B3D770E2AD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410" b="9979"/>
          <a:stretch>
            <a:fillRect/>
          </a:stretch>
        </p:blipFill>
        <p:spPr>
          <a:xfrm>
            <a:off x="3477946" y="1184257"/>
            <a:ext cx="263880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13B502-F894-9D6D-90DF-285FA9D4FE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15" b="17525"/>
          <a:stretch>
            <a:fillRect/>
          </a:stretch>
        </p:blipFill>
        <p:spPr>
          <a:xfrm>
            <a:off x="6306726" y="1184257"/>
            <a:ext cx="263880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A2090F79-1028-B1FA-B06A-602E6098F9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421" b="35152"/>
          <a:stretch>
            <a:fillRect/>
          </a:stretch>
        </p:blipFill>
        <p:spPr>
          <a:xfrm>
            <a:off x="9180817" y="1200051"/>
            <a:ext cx="2720665" cy="4720411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571308C7-BBCB-F364-5637-9302057B2E1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B18F12-C299-F4C4-D574-4D4E7FA8A077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40B6FD-B136-7606-D8AA-76E3F12E3992}"/>
              </a:ext>
            </a:extLst>
          </p:cNvPr>
          <p:cNvSpPr txBox="1"/>
          <p:nvPr/>
        </p:nvSpPr>
        <p:spPr>
          <a:xfrm>
            <a:off x="760438" y="6098836"/>
            <a:ext cx="2322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BLE terminal showing initialization info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0BDC95-6F17-ACCA-3F79-A1CF63464C2E}"/>
              </a:ext>
            </a:extLst>
          </p:cNvPr>
          <p:cNvSpPr txBox="1"/>
          <p:nvPr/>
        </p:nvSpPr>
        <p:spPr>
          <a:xfrm>
            <a:off x="9463827" y="6098836"/>
            <a:ext cx="217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SMS Welcome message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49A457-DAAC-B52A-3E32-1F115FC9BD06}"/>
              </a:ext>
            </a:extLst>
          </p:cNvPr>
          <p:cNvSpPr txBox="1"/>
          <p:nvPr/>
        </p:nvSpPr>
        <p:spPr>
          <a:xfrm>
            <a:off x="6445816" y="6098836"/>
            <a:ext cx="2322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BLE terminal showing command features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A94E32-1470-7E6D-4CE5-76A44E1BE4BF}"/>
              </a:ext>
            </a:extLst>
          </p:cNvPr>
          <p:cNvSpPr txBox="1"/>
          <p:nvPr/>
        </p:nvSpPr>
        <p:spPr>
          <a:xfrm>
            <a:off x="3568876" y="6098836"/>
            <a:ext cx="217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SMS showing command features</a:t>
            </a:r>
          </a:p>
        </p:txBody>
      </p:sp>
    </p:spTree>
    <p:extLst>
      <p:ext uri="{BB962C8B-B14F-4D97-AF65-F5344CB8AC3E}">
        <p14:creationId xmlns:p14="http://schemas.microsoft.com/office/powerpoint/2010/main" val="3412427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01886D74-FB63-0D75-836C-2DF0C522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Slide Background">
            <a:extLst>
              <a:ext uri="{FF2B5EF4-FFF2-40B4-BE49-F238E27FC236}">
                <a16:creationId xmlns:a16="http://schemas.microsoft.com/office/drawing/2014/main" id="{D4D6EF1D-B8F9-7C3B-FB75-E6B9AB6A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EA71E1BD-8C40-93E6-1DE8-A86C88436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5248DD-AC24-AB3B-31C2-C52CDC508D2A}"/>
              </a:ext>
            </a:extLst>
          </p:cNvPr>
          <p:cNvSpPr txBox="1"/>
          <p:nvPr/>
        </p:nvSpPr>
        <p:spPr>
          <a:xfrm>
            <a:off x="4092156" y="115364"/>
            <a:ext cx="3994031" cy="812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COMMANDS</a:t>
            </a:r>
          </a:p>
        </p:txBody>
      </p: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9CFCB114-E2CF-A37B-5338-10599B89EC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0640EC-7E2B-D946-A42B-F726B01EBB8C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B8DC2BE4-7330-4ADE-D8A7-EA970D3DA2DA}"/>
              </a:ext>
            </a:extLst>
          </p:cNvPr>
          <p:cNvSpPr/>
          <p:nvPr/>
        </p:nvSpPr>
        <p:spPr>
          <a:xfrm>
            <a:off x="-6828" y="6627272"/>
            <a:ext cx="12192000" cy="230728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4C3E44-8B07-8DD4-171A-36AF1C30E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963784"/>
              </p:ext>
            </p:extLst>
          </p:nvPr>
        </p:nvGraphicFramePr>
        <p:xfrm>
          <a:off x="1104181" y="1139936"/>
          <a:ext cx="9660114" cy="2849880"/>
        </p:xfrm>
        <a:graphic>
          <a:graphicData uri="http://schemas.openxmlformats.org/drawingml/2006/table">
            <a:tbl>
              <a:tblPr/>
              <a:tblGrid>
                <a:gridCol w="1487932">
                  <a:extLst>
                    <a:ext uri="{9D8B030D-6E8A-4147-A177-3AD203B41FA5}">
                      <a16:colId xmlns:a16="http://schemas.microsoft.com/office/drawing/2014/main" val="3252598611"/>
                    </a:ext>
                  </a:extLst>
                </a:gridCol>
                <a:gridCol w="3742722">
                  <a:extLst>
                    <a:ext uri="{9D8B030D-6E8A-4147-A177-3AD203B41FA5}">
                      <a16:colId xmlns:a16="http://schemas.microsoft.com/office/drawing/2014/main" val="2142042372"/>
                    </a:ext>
                  </a:extLst>
                </a:gridCol>
                <a:gridCol w="4429460">
                  <a:extLst>
                    <a:ext uri="{9D8B030D-6E8A-4147-A177-3AD203B41FA5}">
                      <a16:colId xmlns:a16="http://schemas.microsoft.com/office/drawing/2014/main" val="3472340239"/>
                    </a:ext>
                  </a:extLst>
                </a:gridCol>
              </a:tblGrid>
              <a:tr h="200025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BASIC COMMANDS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0427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Command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Function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Response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9806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g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Get GPS location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GPS coordinates + Google Maps link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01464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System status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Complete system info with GPS location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072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Test alarm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3 short beeps + confirmation + GPS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9268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b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Buzzer ON (continuous)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Confirmation + GPS location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3507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o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Buzzer OFF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Confirmation + GPS location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32298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h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Help message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Complete command list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25152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Make call to owner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"Calling..."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0679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x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Hang up current call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"Call ended"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21872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251788-675D-14FA-87AD-4DC8AC4E8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077364"/>
              </p:ext>
            </p:extLst>
          </p:nvPr>
        </p:nvGraphicFramePr>
        <p:xfrm>
          <a:off x="1104181" y="4264325"/>
          <a:ext cx="9660114" cy="1440180"/>
        </p:xfrm>
        <a:graphic>
          <a:graphicData uri="http://schemas.openxmlformats.org/drawingml/2006/table">
            <a:tbl>
              <a:tblPr/>
              <a:tblGrid>
                <a:gridCol w="1487932">
                  <a:extLst>
                    <a:ext uri="{9D8B030D-6E8A-4147-A177-3AD203B41FA5}">
                      <a16:colId xmlns:a16="http://schemas.microsoft.com/office/drawing/2014/main" val="1484135307"/>
                    </a:ext>
                  </a:extLst>
                </a:gridCol>
                <a:gridCol w="3742722">
                  <a:extLst>
                    <a:ext uri="{9D8B030D-6E8A-4147-A177-3AD203B41FA5}">
                      <a16:colId xmlns:a16="http://schemas.microsoft.com/office/drawing/2014/main" val="4158612484"/>
                    </a:ext>
                  </a:extLst>
                </a:gridCol>
                <a:gridCol w="4429460">
                  <a:extLst>
                    <a:ext uri="{9D8B030D-6E8A-4147-A177-3AD203B41FA5}">
                      <a16:colId xmlns:a16="http://schemas.microsoft.com/office/drawing/2014/main" val="1477076939"/>
                    </a:ext>
                  </a:extLst>
                </a:gridCol>
              </a:tblGrid>
              <a:tr h="165326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TRIGGER LIST COMMANDS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911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t list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Show all whitelisted numbers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Numbered list of all triggers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6282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t add +91XXX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Add number to trigger list (max 10)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Confirmation message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2323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t del +91XXX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Remove number from trigger list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Confirmation message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504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t clear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Clear all triggers (keeps owner)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Confirmation (owner kept)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528572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5231FD92-59F9-A2E2-9432-2A270B21659A}"/>
              </a:ext>
            </a:extLst>
          </p:cNvPr>
          <p:cNvSpPr/>
          <p:nvPr/>
        </p:nvSpPr>
        <p:spPr>
          <a:xfrm>
            <a:off x="-3077637" y="2129903"/>
            <a:ext cx="4022573" cy="3786237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F33D9E-1859-FC17-1047-FBF6633A4E8F}"/>
              </a:ext>
            </a:extLst>
          </p:cNvPr>
          <p:cNvSpPr/>
          <p:nvPr/>
        </p:nvSpPr>
        <p:spPr>
          <a:xfrm>
            <a:off x="9770409" y="-2094848"/>
            <a:ext cx="7016817" cy="6275671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04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AD480E06-3430-2A02-BBE9-B5AE511D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Slide Background">
            <a:extLst>
              <a:ext uri="{FF2B5EF4-FFF2-40B4-BE49-F238E27FC236}">
                <a16:creationId xmlns:a16="http://schemas.microsoft.com/office/drawing/2014/main" id="{26AA51D2-91C4-3652-6D67-90702A335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FA04BF-3D6D-2176-4A62-CE31821D7B8A}"/>
              </a:ext>
            </a:extLst>
          </p:cNvPr>
          <p:cNvSpPr/>
          <p:nvPr/>
        </p:nvSpPr>
        <p:spPr>
          <a:xfrm>
            <a:off x="9770409" y="-2094848"/>
            <a:ext cx="7016817" cy="6275671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A46E8AD4-2386-6CD7-A554-BB9FC7131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B6941E-9C6B-4FCE-26A5-24716EAFD214}"/>
              </a:ext>
            </a:extLst>
          </p:cNvPr>
          <p:cNvSpPr txBox="1"/>
          <p:nvPr/>
        </p:nvSpPr>
        <p:spPr>
          <a:xfrm>
            <a:off x="4092156" y="115364"/>
            <a:ext cx="3994031" cy="812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COMMANDS</a:t>
            </a:r>
          </a:p>
        </p:txBody>
      </p: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06AE1ECE-C91B-F481-18D1-482D99ED74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ABBB70-7830-7B79-832E-6E32E0CB87C4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860EA971-154A-AAC3-CA7D-8E24C751A109}"/>
              </a:ext>
            </a:extLst>
          </p:cNvPr>
          <p:cNvSpPr/>
          <p:nvPr/>
        </p:nvSpPr>
        <p:spPr>
          <a:xfrm>
            <a:off x="-6828" y="6627272"/>
            <a:ext cx="12192000" cy="230728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90CF61-8F13-1C7C-9C53-13BB25596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561713"/>
              </p:ext>
            </p:extLst>
          </p:nvPr>
        </p:nvGraphicFramePr>
        <p:xfrm>
          <a:off x="1128059" y="1025003"/>
          <a:ext cx="9935880" cy="2209800"/>
        </p:xfrm>
        <a:graphic>
          <a:graphicData uri="http://schemas.openxmlformats.org/drawingml/2006/table">
            <a:tbl>
              <a:tblPr/>
              <a:tblGrid>
                <a:gridCol w="1530408">
                  <a:extLst>
                    <a:ext uri="{9D8B030D-6E8A-4147-A177-3AD203B41FA5}">
                      <a16:colId xmlns:a16="http://schemas.microsoft.com/office/drawing/2014/main" val="2246987298"/>
                    </a:ext>
                  </a:extLst>
                </a:gridCol>
                <a:gridCol w="3849565">
                  <a:extLst>
                    <a:ext uri="{9D8B030D-6E8A-4147-A177-3AD203B41FA5}">
                      <a16:colId xmlns:a16="http://schemas.microsoft.com/office/drawing/2014/main" val="1378178774"/>
                    </a:ext>
                  </a:extLst>
                </a:gridCol>
                <a:gridCol w="4555907">
                  <a:extLst>
                    <a:ext uri="{9D8B030D-6E8A-4147-A177-3AD203B41FA5}">
                      <a16:colId xmlns:a16="http://schemas.microsoft.com/office/drawing/2014/main" val="1856603325"/>
                    </a:ext>
                  </a:extLst>
                </a:gridCol>
              </a:tblGrid>
              <a:tr h="200025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GEOFENCING COMMANDS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6361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f set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Set geofence at current GPS (100m)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Confirmation with center coordinates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5418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f set &lt;radius&gt;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Set geofence with custom radius (Range: 10-5000m)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Confirmation with radius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2421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f radius &lt;m&gt;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Change radius (center unchanged, Range: 10-5000m)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Updated radius confirmation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80844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f status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Check geofence settings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Enabled status, center, radius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555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f off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Disable geofencing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Confirmation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632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2969AE-8CF2-E8D6-7AFA-41F00C831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240978"/>
              </p:ext>
            </p:extLst>
          </p:nvPr>
        </p:nvGraphicFramePr>
        <p:xfrm>
          <a:off x="1128059" y="4146747"/>
          <a:ext cx="9935881" cy="838200"/>
        </p:xfrm>
        <a:graphic>
          <a:graphicData uri="http://schemas.openxmlformats.org/drawingml/2006/table">
            <a:tbl>
              <a:tblPr/>
              <a:tblGrid>
                <a:gridCol w="2231366">
                  <a:extLst>
                    <a:ext uri="{9D8B030D-6E8A-4147-A177-3AD203B41FA5}">
                      <a16:colId xmlns:a16="http://schemas.microsoft.com/office/drawing/2014/main" val="3230044452"/>
                    </a:ext>
                  </a:extLst>
                </a:gridCol>
                <a:gridCol w="3148608">
                  <a:extLst>
                    <a:ext uri="{9D8B030D-6E8A-4147-A177-3AD203B41FA5}">
                      <a16:colId xmlns:a16="http://schemas.microsoft.com/office/drawing/2014/main" val="2342800782"/>
                    </a:ext>
                  </a:extLst>
                </a:gridCol>
                <a:gridCol w="4555907">
                  <a:extLst>
                    <a:ext uri="{9D8B030D-6E8A-4147-A177-3AD203B41FA5}">
                      <a16:colId xmlns:a16="http://schemas.microsoft.com/office/drawing/2014/main" val="1787513831"/>
                    </a:ext>
                  </a:extLst>
                </a:gridCol>
              </a:tblGrid>
              <a:tr h="200025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OWNER COMMANDS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1641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n +91XXXXXXXXXX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Change owner number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Welcome message to new owner + Confirmation + GPS location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254743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32146458-536A-211C-54EA-070DF631F9DE}"/>
              </a:ext>
            </a:extLst>
          </p:cNvPr>
          <p:cNvSpPr/>
          <p:nvPr/>
        </p:nvSpPr>
        <p:spPr>
          <a:xfrm>
            <a:off x="-3077637" y="2129903"/>
            <a:ext cx="4022573" cy="3786237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27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2249E3AF-CAC4-512A-6C15-828426F70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erson raising his hand in a room&#10;&#10;AI-generated content may be incorrect.">
            <a:extLst>
              <a:ext uri="{FF2B5EF4-FFF2-40B4-BE49-F238E27FC236}">
                <a16:creationId xmlns:a16="http://schemas.microsoft.com/office/drawing/2014/main" id="{EF3436C5-15A3-224E-07AC-846D5C5EE2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8278" r="-1" b="6103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285EAA-8501-79CA-FE9E-A023581521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16469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844887-1897-C26B-8399-38B92C0CEB64}"/>
              </a:ext>
            </a:extLst>
          </p:cNvPr>
          <p:cNvSpPr txBox="1"/>
          <p:nvPr/>
        </p:nvSpPr>
        <p:spPr>
          <a:xfrm>
            <a:off x="838200" y="1115219"/>
            <a:ext cx="539591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RPI CONTROL DASHBOARD</a:t>
            </a:r>
          </a:p>
        </p:txBody>
      </p:sp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C58119E4-49D2-3531-E819-9F8315177C8F}"/>
              </a:ext>
            </a:extLst>
          </p:cNvPr>
          <p:cNvSpPr/>
          <p:nvPr/>
        </p:nvSpPr>
        <p:spPr>
          <a:xfrm>
            <a:off x="838200" y="3902075"/>
            <a:ext cx="5395912" cy="165576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2000" b="1" i="0" u="none" strike="noStrike" kern="1200" cap="none">
                <a:solidFill>
                  <a:schemeClr val="bg1"/>
                </a:solidFill>
                <a:latin typeface="+mn-lt"/>
                <a:ea typeface="+mn-ea"/>
                <a:cs typeface="+mn-cs"/>
                <a:sym typeface="Times New Roman"/>
              </a:rPr>
              <a:t>Department of Mechatronics Engineering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9CE71813-8C67-1AFC-9BA4-6870F8FF936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E52C78-7905-8C1C-3CD8-1E67925FF587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B9EC5-3F71-A826-DC73-F1665B2F3CCF}"/>
              </a:ext>
            </a:extLst>
          </p:cNvPr>
          <p:cNvSpPr txBox="1"/>
          <p:nvPr/>
        </p:nvSpPr>
        <p:spPr>
          <a:xfrm>
            <a:off x="1002821" y="1295305"/>
            <a:ext cx="993547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12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29DF6CF-A95D-555E-4642-6D57C157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BF9D1145-8042-BD59-6DAB-19B57D249C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2FA284-4A26-C98A-040A-957BB9B12BED}"/>
              </a:ext>
            </a:extLst>
          </p:cNvPr>
          <p:cNvSpPr txBox="1"/>
          <p:nvPr/>
        </p:nvSpPr>
        <p:spPr>
          <a:xfrm>
            <a:off x="3072969" y="167307"/>
            <a:ext cx="5795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RPI CONTROL DASHBOARD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92673C-9173-B598-BCD2-6A9B070AECB0}"/>
              </a:ext>
            </a:extLst>
          </p:cNvPr>
          <p:cNvSpPr txBox="1"/>
          <p:nvPr/>
        </p:nvSpPr>
        <p:spPr>
          <a:xfrm>
            <a:off x="8705569" y="11280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62334-E881-F4AD-21CD-BA65039F65F2}"/>
              </a:ext>
            </a:extLst>
          </p:cNvPr>
          <p:cNvSpPr txBox="1"/>
          <p:nvPr/>
        </p:nvSpPr>
        <p:spPr>
          <a:xfrm>
            <a:off x="1002821" y="1295305"/>
            <a:ext cx="99354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endParaRPr lang="en-US" dirty="0"/>
          </a:p>
        </p:txBody>
      </p:sp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73B18991-A700-9BC7-7F04-77185AA9104E}"/>
              </a:ext>
            </a:extLst>
          </p:cNvPr>
          <p:cNvSpPr/>
          <p:nvPr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lang="en-IN"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86903-C28A-6E9C-7767-15CDFCBA7486}"/>
              </a:ext>
            </a:extLst>
          </p:cNvPr>
          <p:cNvSpPr txBox="1"/>
          <p:nvPr/>
        </p:nvSpPr>
        <p:spPr>
          <a:xfrm>
            <a:off x="631825" y="949146"/>
            <a:ext cx="11322752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1.Live Camera Feed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Real-time </a:t>
            </a:r>
            <a:r>
              <a:rPr lang="en-US" b="1" dirty="0"/>
              <a:t>video stream</a:t>
            </a:r>
            <a:r>
              <a:rPr lang="en-US" dirty="0"/>
              <a:t> from the Pi Camera for object detection and tracking.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Displays </a:t>
            </a:r>
            <a:r>
              <a:rPr lang="en-US" b="1" dirty="0"/>
              <a:t>tracking confidence level</a:t>
            </a:r>
            <a:r>
              <a:rPr lang="en-US" dirty="0"/>
              <a:t> and </a:t>
            </a:r>
            <a:r>
              <a:rPr lang="en-US" b="1" dirty="0"/>
              <a:t>marker detection status.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2.Control Panel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Includes an </a:t>
            </a:r>
            <a:r>
              <a:rPr lang="en-US" b="1" dirty="0"/>
              <a:t>Emergency Stop</a:t>
            </a:r>
            <a:r>
              <a:rPr lang="en-US" dirty="0"/>
              <a:t> for instant motor shutdown.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Colour</a:t>
            </a:r>
            <a:r>
              <a:rPr lang="en-US" dirty="0"/>
              <a:t> selection Panel for following mechanism.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joystick for directional control and speed adjustment.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3.Telemetry Dashboard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Displays </a:t>
            </a:r>
            <a:r>
              <a:rPr lang="en-US" b="1" dirty="0"/>
              <a:t>CPU usage</a:t>
            </a:r>
            <a:r>
              <a:rPr lang="en-US" dirty="0"/>
              <a:t>, </a:t>
            </a:r>
            <a:r>
              <a:rPr lang="en-US" b="1" dirty="0"/>
              <a:t>RAM usage</a:t>
            </a:r>
            <a:r>
              <a:rPr lang="en-US" dirty="0"/>
              <a:t>, </a:t>
            </a:r>
            <a:r>
              <a:rPr lang="en-US" b="1" dirty="0"/>
              <a:t>FPS</a:t>
            </a:r>
            <a:r>
              <a:rPr lang="en-US" dirty="0"/>
              <a:t>, and </a:t>
            </a:r>
            <a:r>
              <a:rPr lang="en-US" b="1" dirty="0"/>
              <a:t>connection status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Monitors </a:t>
            </a:r>
            <a:r>
              <a:rPr lang="en-US" b="1" dirty="0"/>
              <a:t>motor activity</a:t>
            </a:r>
            <a:r>
              <a:rPr lang="en-US" dirty="0"/>
              <a:t>, </a:t>
            </a:r>
            <a:r>
              <a:rPr lang="en-US" b="1" dirty="0"/>
              <a:t>temperature</a:t>
            </a:r>
            <a:r>
              <a:rPr lang="en-US" dirty="0"/>
              <a:t>, and </a:t>
            </a:r>
            <a:r>
              <a:rPr lang="en-US" b="1" dirty="0"/>
              <a:t>system health</a:t>
            </a:r>
            <a:r>
              <a:rPr lang="en-US" dirty="0"/>
              <a:t> in real-time.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Graphs for </a:t>
            </a:r>
            <a:r>
              <a:rPr lang="en-US" b="1" dirty="0"/>
              <a:t>CPU and memory history</a:t>
            </a:r>
            <a:r>
              <a:rPr lang="en-US" dirty="0"/>
              <a:t> ensure stable performance monitoring.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4.Settings &amp; Network Configuration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Manages </a:t>
            </a:r>
            <a:r>
              <a:rPr lang="en-US" b="1" dirty="0"/>
              <a:t>backend and network URLs</a:t>
            </a:r>
            <a:r>
              <a:rPr lang="en-US" dirty="0"/>
              <a:t> for remote connectivity.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camera configuration controls</a:t>
            </a:r>
            <a:r>
              <a:rPr lang="en-US" dirty="0"/>
              <a:t> (resolution, frame rate, etc.).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Displays </a:t>
            </a:r>
            <a:r>
              <a:rPr lang="en-US" b="1" dirty="0"/>
              <a:t>signal strength</a:t>
            </a:r>
            <a:r>
              <a:rPr lang="en-US" dirty="0"/>
              <a:t>, </a:t>
            </a:r>
            <a:r>
              <a:rPr lang="en-US" b="1" dirty="0"/>
              <a:t>battery level</a:t>
            </a:r>
            <a:r>
              <a:rPr lang="en-US" dirty="0"/>
              <a:t>, and </a:t>
            </a:r>
            <a:r>
              <a:rPr lang="en-US" b="1" dirty="0"/>
              <a:t>latency</a:t>
            </a:r>
            <a:r>
              <a:rPr lang="en-US" dirty="0"/>
              <a:t> statistics.</a:t>
            </a:r>
          </a:p>
          <a:p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7E0859-F4A0-97DF-E101-BFFFFF01E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777" y="3792312"/>
            <a:ext cx="4368800" cy="2578731"/>
          </a:xfrm>
          <a:prstGeom prst="rect">
            <a:avLst/>
          </a:prstGeom>
        </p:spPr>
      </p:pic>
      <p:pic>
        <p:nvPicPr>
          <p:cNvPr id="9" name="Picture 8" descr="A screen shot of a room&#10;&#10;AI-generated content may be incorrect.">
            <a:extLst>
              <a:ext uri="{FF2B5EF4-FFF2-40B4-BE49-F238E27FC236}">
                <a16:creationId xmlns:a16="http://schemas.microsoft.com/office/drawing/2014/main" id="{418EE63A-82C4-EA85-93A5-DA88C1EA0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777" y="949146"/>
            <a:ext cx="4368800" cy="274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33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5E7787F2-6D22-A00D-0DB6-3B168246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63F5877B-98C7-49DD-83AB-0F6F57CB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device&#10;&#10;AI-generated content may be incorrect.">
            <a:extLst>
              <a:ext uri="{FF2B5EF4-FFF2-40B4-BE49-F238E27FC236}">
                <a16:creationId xmlns:a16="http://schemas.microsoft.com/office/drawing/2014/main" id="{08EEB963-95BC-0833-8191-F1D06D65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" b="1984"/>
          <a:stretch>
            <a:fillRect/>
          </a:stretch>
        </p:blipFill>
        <p:spPr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FC1909-BF0F-6A7E-2308-510FB27647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661" t="3524" r="21683" b="-3522"/>
          <a:stretch>
            <a:fillRect/>
          </a:stretch>
        </p:blipFill>
        <p:spPr>
          <a:xfrm>
            <a:off x="3111501" y="18"/>
            <a:ext cx="5134686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92" name="Freeform: Shape 91">
            <a:extLst>
              <a:ext uri="{FF2B5EF4-FFF2-40B4-BE49-F238E27FC236}">
                <a16:creationId xmlns:a16="http://schemas.microsoft.com/office/drawing/2014/main" id="{4EA91930-66BC-4C41-B4F5-C31EB216F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4" name="Freeform: Shape 93">
            <a:extLst>
              <a:ext uri="{FF2B5EF4-FFF2-40B4-BE49-F238E27FC236}">
                <a16:creationId xmlns:a16="http://schemas.microsoft.com/office/drawing/2014/main" id="{6313CF8F-B436-401E-9575-DE0F8E8B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7D666-5399-E972-B6C4-13623DF14804}"/>
              </a:ext>
            </a:extLst>
          </p:cNvPr>
          <p:cNvSpPr txBox="1"/>
          <p:nvPr/>
        </p:nvSpPr>
        <p:spPr>
          <a:xfrm>
            <a:off x="448056" y="903683"/>
            <a:ext cx="2804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RPI CONTROL DASHBOARD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A38CFE9-C30A-4551-ACCB-D5808FBC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135B7-38E1-A057-DADC-F46756C009AD}"/>
              </a:ext>
            </a:extLst>
          </p:cNvPr>
          <p:cNvSpPr txBox="1"/>
          <p:nvPr/>
        </p:nvSpPr>
        <p:spPr>
          <a:xfrm>
            <a:off x="448056" y="2258171"/>
            <a:ext cx="2804504" cy="3918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 Companion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voice control commands to move the Voyager-Bot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Companion to chat with during Travels</a:t>
            </a:r>
            <a:endParaRPr lang="en-US" sz="18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BBC96A49-797B-2AA3-9753-1E59D1AA74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A41A1B-1D4A-EFCB-983A-97E82F5A0447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65B27-CF01-BBA4-C2D8-89F219E0B96E}"/>
              </a:ext>
            </a:extLst>
          </p:cNvPr>
          <p:cNvSpPr txBox="1"/>
          <p:nvPr/>
        </p:nvSpPr>
        <p:spPr>
          <a:xfrm>
            <a:off x="1002821" y="1295305"/>
            <a:ext cx="993547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CE02F75C-779E-8C8A-A114-CE18C08DBB13}"/>
              </a:ext>
            </a:extLst>
          </p:cNvPr>
          <p:cNvSpPr/>
          <p:nvPr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lang="en-US"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9322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0CA1C2A-5F83-0BF7-639D-69F7BAAB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02FE36E7-77D1-F0EA-F8A7-681DAC24D4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1F66B8-832A-83E6-BCC1-0C945D0E4C96}"/>
              </a:ext>
            </a:extLst>
          </p:cNvPr>
          <p:cNvSpPr txBox="1"/>
          <p:nvPr/>
        </p:nvSpPr>
        <p:spPr>
          <a:xfrm>
            <a:off x="3943808" y="229106"/>
            <a:ext cx="30364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DFA896-D200-FF9A-B486-79D5739E95D4}"/>
              </a:ext>
            </a:extLst>
          </p:cNvPr>
          <p:cNvSpPr txBox="1"/>
          <p:nvPr/>
        </p:nvSpPr>
        <p:spPr>
          <a:xfrm>
            <a:off x="8705569" y="11280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4CE97F-83AA-F4AD-B4BD-BC24588F2635}"/>
              </a:ext>
            </a:extLst>
          </p:cNvPr>
          <p:cNvSpPr txBox="1"/>
          <p:nvPr/>
        </p:nvSpPr>
        <p:spPr>
          <a:xfrm>
            <a:off x="1002821" y="1295305"/>
            <a:ext cx="99354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/>
              <a:t>1. </a:t>
            </a:r>
            <a:r>
              <a:rPr lang="en-US" sz="1600" b="1" dirty="0"/>
              <a:t>UWB Module Acquisition Issues</a:t>
            </a:r>
            <a:endParaRPr lang="en-US" sz="1600" dirty="0"/>
          </a:p>
          <a:p>
            <a:pPr marL="285750" lvl="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initial design required </a:t>
            </a:r>
            <a:r>
              <a:rPr lang="en-US" sz="1600" b="1" dirty="0"/>
              <a:t>two UWB modules</a:t>
            </a:r>
            <a:r>
              <a:rPr lang="en-US" sz="1600" dirty="0"/>
              <a:t> for precise distance tracking between suitcase and owner.</a:t>
            </a:r>
          </a:p>
          <a:p>
            <a:pPr marL="285750" lvl="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Unavailability and sourcing delays</a:t>
            </a:r>
            <a:r>
              <a:rPr lang="en-US" sz="1600" dirty="0"/>
              <a:t> forced a change in tracking method.</a:t>
            </a:r>
          </a:p>
          <a:p>
            <a:pPr marL="285750" lvl="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Led to a </a:t>
            </a:r>
            <a:r>
              <a:rPr lang="en-US" sz="1600" b="1" dirty="0"/>
              <a:t>major redesign</a:t>
            </a:r>
            <a:r>
              <a:rPr lang="en-US" sz="1600" dirty="0"/>
              <a:t> of the system’s core tracking concept.</a:t>
            </a:r>
          </a:p>
          <a:p>
            <a:pPr lvl="5" algn="just">
              <a:lnSpc>
                <a:spcPct val="150000"/>
              </a:lnSpc>
            </a:pPr>
            <a:endParaRPr lang="en-US" sz="1600" dirty="0"/>
          </a:p>
          <a:p>
            <a:pPr algn="just"/>
            <a:r>
              <a:rPr lang="en-US" sz="1600" b="1" dirty="0"/>
              <a:t>2. Camera Placement Limitation</a:t>
            </a: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Mounting the camera on a </a:t>
            </a:r>
            <a:r>
              <a:rPr lang="en-US" sz="1600" b="1" dirty="0"/>
              <a:t>low position (front of suitcase)</a:t>
            </a:r>
            <a:r>
              <a:rPr lang="en-US" sz="1600" dirty="0"/>
              <a:t> reduced its </a:t>
            </a:r>
            <a:r>
              <a:rPr lang="en-US" sz="1600" b="1" dirty="0"/>
              <a:t>field of view (FOV)</a:t>
            </a:r>
            <a:r>
              <a:rPr lang="en-US" sz="16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camera often captured </a:t>
            </a:r>
            <a:r>
              <a:rPr lang="en-US" sz="1600" b="1" dirty="0"/>
              <a:t>lower-body or ground-level frames</a:t>
            </a:r>
            <a:r>
              <a:rPr lang="en-US" sz="1600" dirty="0"/>
              <a:t>, making consistent tracking difficult.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Required experimentation with </a:t>
            </a:r>
            <a:r>
              <a:rPr lang="en-US" sz="1600" b="1" dirty="0"/>
              <a:t>angle adjustment</a:t>
            </a:r>
            <a:r>
              <a:rPr lang="en-US" sz="1600" dirty="0"/>
              <a:t> and </a:t>
            </a:r>
            <a:r>
              <a:rPr lang="en-US" sz="1600" b="1" dirty="0"/>
              <a:t>color detection sensitivity.</a:t>
            </a:r>
          </a:p>
          <a:p>
            <a:pPr algn="just">
              <a:lnSpc>
                <a:spcPct val="150000"/>
              </a:lnSpc>
            </a:pP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600" b="1" dirty="0"/>
              <a:t>3. System Integration &amp; Power Management</a:t>
            </a: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Combining </a:t>
            </a:r>
            <a:r>
              <a:rPr lang="en-US" sz="1600" b="1" dirty="0"/>
              <a:t>Raspberry Pi, ESP32, GSM, GPS, and motor control</a:t>
            </a:r>
            <a:r>
              <a:rPr lang="en-US" sz="1600" dirty="0"/>
              <a:t> created power stability challenges.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Required careful </a:t>
            </a:r>
            <a:r>
              <a:rPr lang="en-US" sz="1600" b="1" dirty="0"/>
              <a:t>voltage regulation</a:t>
            </a:r>
            <a:r>
              <a:rPr lang="en-US" sz="1600" dirty="0"/>
              <a:t> and wiring optimization to prevent brownouts.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5BE3F4B8-2ABA-3650-1F10-397A68FBD5F6}"/>
              </a:ext>
            </a:extLst>
          </p:cNvPr>
          <p:cNvSpPr/>
          <p:nvPr/>
        </p:nvSpPr>
        <p:spPr>
          <a:xfrm>
            <a:off x="0" y="6544574"/>
            <a:ext cx="12192000" cy="40197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0168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4F95515-091A-4307-83C4-92E3EA0D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F6F88CCB-26E0-D916-D09C-F34839C624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47A38C-3A21-2448-374B-D0C6EDE85E80}"/>
              </a:ext>
            </a:extLst>
          </p:cNvPr>
          <p:cNvSpPr txBox="1"/>
          <p:nvPr/>
        </p:nvSpPr>
        <p:spPr>
          <a:xfrm>
            <a:off x="8705569" y="11280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9C5DB20A-745D-78FE-2E1F-ADAD59966F46}"/>
              </a:ext>
            </a:extLst>
          </p:cNvPr>
          <p:cNvSpPr/>
          <p:nvPr/>
        </p:nvSpPr>
        <p:spPr>
          <a:xfrm>
            <a:off x="0" y="6544574"/>
            <a:ext cx="12192000" cy="40197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01FE8-E835-0D33-FF00-99DD65BE7065}"/>
              </a:ext>
            </a:extLst>
          </p:cNvPr>
          <p:cNvSpPr txBox="1"/>
          <p:nvPr/>
        </p:nvSpPr>
        <p:spPr>
          <a:xfrm>
            <a:off x="1915064" y="2422529"/>
            <a:ext cx="91008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7518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2366</Words>
  <Application>Microsoft Office PowerPoint</Application>
  <PresentationFormat>Widescreen</PresentationFormat>
  <Paragraphs>367</Paragraphs>
  <Slides>26</Slides>
  <Notes>26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Black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</dc:creator>
  <cp:lastModifiedBy>Hussein Alimson</cp:lastModifiedBy>
  <cp:revision>18</cp:revision>
  <dcterms:created xsi:type="dcterms:W3CDTF">2021-12-16T08:53:45Z</dcterms:created>
  <dcterms:modified xsi:type="dcterms:W3CDTF">2025-11-10T13:27:39Z</dcterms:modified>
</cp:coreProperties>
</file>